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700" autoAdjust="0"/>
  </p:normalViewPr>
  <p:slideViewPr>
    <p:cSldViewPr snapToGrid="0">
      <p:cViewPr varScale="1">
        <p:scale>
          <a:sx n="60" d="100"/>
          <a:sy n="60" d="100"/>
        </p:scale>
        <p:origin x="96"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BF8E-7986-4BA3-B35B-DFC708D60B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EB75F2-4CB3-4841-BEC7-F8CF2D4E8D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6A0A10-71DD-47C8-9343-D73BF46C62E7}"/>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5" name="Footer Placeholder 4">
            <a:extLst>
              <a:ext uri="{FF2B5EF4-FFF2-40B4-BE49-F238E27FC236}">
                <a16:creationId xmlns:a16="http://schemas.microsoft.com/office/drawing/2014/main" id="{C514F3A3-4DB8-40CC-9B28-F8F0C5AC5A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8599A1-7CFC-4B1A-9DC0-90E86400D1E1}"/>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584206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15620-5960-4E78-B9F4-2CC9DD88EA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904A8B-F3C5-4098-BE09-4D4A97306B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B0F9F8-8790-4341-842F-53A25080409F}"/>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5" name="Footer Placeholder 4">
            <a:extLst>
              <a:ext uri="{FF2B5EF4-FFF2-40B4-BE49-F238E27FC236}">
                <a16:creationId xmlns:a16="http://schemas.microsoft.com/office/drawing/2014/main" id="{B4A205D2-53D9-4E3F-9221-91381D1504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DD54E-8D7A-4D19-B080-10834CB56E48}"/>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2826064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7A50F-2596-4CA7-950C-FD32A88DFA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32D4CD-B6A9-4D14-AE5A-A1F7E96B2F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36AFA9-698B-4D33-8ED5-BD2870486109}"/>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5" name="Footer Placeholder 4">
            <a:extLst>
              <a:ext uri="{FF2B5EF4-FFF2-40B4-BE49-F238E27FC236}">
                <a16:creationId xmlns:a16="http://schemas.microsoft.com/office/drawing/2014/main" id="{E1EC058D-71CE-46B7-A32E-A9DAE2B225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CBFAB-1206-415B-85F1-F005C5A32E42}"/>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729393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57D8-3719-4290-8FDB-9E33E85156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ACE675-5F85-4FF9-867F-F2F1ADC6B4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9C224F-CC5C-4479-8D51-15B1A87B90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7B3585-25EE-449E-8729-44AB79C8E22E}"/>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6" name="Footer Placeholder 5">
            <a:extLst>
              <a:ext uri="{FF2B5EF4-FFF2-40B4-BE49-F238E27FC236}">
                <a16:creationId xmlns:a16="http://schemas.microsoft.com/office/drawing/2014/main" id="{17407F95-34A0-4DC6-9C7B-255240C1BA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F993F4-A421-4503-AA0D-EC773D646325}"/>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261085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169D6-8867-4E73-9A5D-6C5E08B6CB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3C41F1-B960-403A-B1F8-BC55797DD5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E4421E-CAD2-41DB-9ADD-EE20322289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B77BFA-0E3D-44D9-9533-D66BD55395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3AF16B-101A-43D3-9EBB-870EC286C7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910C3D-3D91-4B85-8FC7-AA9EFA82C12F}"/>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8" name="Footer Placeholder 7">
            <a:extLst>
              <a:ext uri="{FF2B5EF4-FFF2-40B4-BE49-F238E27FC236}">
                <a16:creationId xmlns:a16="http://schemas.microsoft.com/office/drawing/2014/main" id="{54F0E5EC-7593-4779-AF71-1691EA135B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716EA1-FB7C-4957-A0F4-AF52CB96F5EF}"/>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308233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40B19-99FE-44BD-AE1F-941650BE29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FBBAD0-9978-4E06-9648-50EF7AA89C7F}"/>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4" name="Footer Placeholder 3">
            <a:extLst>
              <a:ext uri="{FF2B5EF4-FFF2-40B4-BE49-F238E27FC236}">
                <a16:creationId xmlns:a16="http://schemas.microsoft.com/office/drawing/2014/main" id="{1B14B639-63CC-4CAB-A6FE-6982F65454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A9795E-A39F-499C-8774-344F1841F681}"/>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1340282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0EBD81-7DDA-4E6C-80C9-C782C22DDDEF}"/>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3" name="Footer Placeholder 2">
            <a:extLst>
              <a:ext uri="{FF2B5EF4-FFF2-40B4-BE49-F238E27FC236}">
                <a16:creationId xmlns:a16="http://schemas.microsoft.com/office/drawing/2014/main" id="{73DC3835-C418-4BEF-B950-B4464A7057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50177A-8813-4498-A553-E72A39312453}"/>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1938787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B9131-E340-43D9-A383-37D87EBE70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FB46AD-68B5-4B93-AADD-97B4E45A30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8AC146-B14E-4DFE-9DBA-9A5DE38FD6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0078AC-24FA-4574-96E2-E43A52B39960}"/>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6" name="Footer Placeholder 5">
            <a:extLst>
              <a:ext uri="{FF2B5EF4-FFF2-40B4-BE49-F238E27FC236}">
                <a16:creationId xmlns:a16="http://schemas.microsoft.com/office/drawing/2014/main" id="{2AD6F39B-7F71-48F0-BFD1-C13778CE84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883828-C592-489F-BFD8-DAE1062064A0}"/>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3659379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CB8F-6012-4B2A-A1D2-E84BC7DB96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95B915-5DDF-424C-A6E5-FF09B8CD7F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837FF-9DBE-4106-8790-6D952890EE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181038-20B4-4D5A-8BC4-485B762C7958}"/>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6" name="Footer Placeholder 5">
            <a:extLst>
              <a:ext uri="{FF2B5EF4-FFF2-40B4-BE49-F238E27FC236}">
                <a16:creationId xmlns:a16="http://schemas.microsoft.com/office/drawing/2014/main" id="{831DDCD3-A556-4D2C-853E-5D1AB4B1B0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7335A7-03DA-456F-8A86-1EA341678DCA}"/>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730721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B641A-D4F0-4D6E-B37C-44F14B6FFA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6FD7B3-6F58-4780-8F47-2AD1784948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14EE74-9029-45AA-B509-1D9B6AAF4E94}"/>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5" name="Footer Placeholder 4">
            <a:extLst>
              <a:ext uri="{FF2B5EF4-FFF2-40B4-BE49-F238E27FC236}">
                <a16:creationId xmlns:a16="http://schemas.microsoft.com/office/drawing/2014/main" id="{7D300C25-A56A-45DB-9F59-2FE3A26B5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5EC547-0DBA-4D61-83E4-8D5EDCFEA459}"/>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2334762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E1514D-4DB9-407D-BB10-7E365DFED5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E5040B-B39B-4F33-A10F-DCC5232E4C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C384E7-7F08-4C59-8295-2B921D36ACC3}"/>
              </a:ext>
            </a:extLst>
          </p:cNvPr>
          <p:cNvSpPr>
            <a:spLocks noGrp="1"/>
          </p:cNvSpPr>
          <p:nvPr>
            <p:ph type="dt" sz="half" idx="10"/>
          </p:nvPr>
        </p:nvSpPr>
        <p:spPr/>
        <p:txBody>
          <a:bodyPr/>
          <a:lstStyle/>
          <a:p>
            <a:fld id="{4BAA667E-907E-466B-8FC9-F0F970D95720}" type="datetimeFigureOut">
              <a:rPr lang="en-US" smtClean="0"/>
              <a:t>3/6/2021</a:t>
            </a:fld>
            <a:endParaRPr lang="en-US"/>
          </a:p>
        </p:txBody>
      </p:sp>
      <p:sp>
        <p:nvSpPr>
          <p:cNvPr id="5" name="Footer Placeholder 4">
            <a:extLst>
              <a:ext uri="{FF2B5EF4-FFF2-40B4-BE49-F238E27FC236}">
                <a16:creationId xmlns:a16="http://schemas.microsoft.com/office/drawing/2014/main" id="{015BE65D-BCA6-44C5-AA60-C06072C830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D1D24-30CF-4278-A0A6-B6A09A9B45C7}"/>
              </a:ext>
            </a:extLst>
          </p:cNvPr>
          <p:cNvSpPr>
            <a:spLocks noGrp="1"/>
          </p:cNvSpPr>
          <p:nvPr>
            <p:ph type="sldNum" sz="quarter" idx="12"/>
          </p:nvPr>
        </p:nvSpPr>
        <p:spPr/>
        <p:txBody>
          <a:bodyPr/>
          <a:lstStyle/>
          <a:p>
            <a:fld id="{665312BA-0A7B-41C6-A408-E94FD640B10B}" type="slidenum">
              <a:rPr lang="en-US" smtClean="0"/>
              <a:t>‹#›</a:t>
            </a:fld>
            <a:endParaRPr lang="en-US"/>
          </a:p>
        </p:txBody>
      </p:sp>
    </p:spTree>
    <p:extLst>
      <p:ext uri="{BB962C8B-B14F-4D97-AF65-F5344CB8AC3E}">
        <p14:creationId xmlns:p14="http://schemas.microsoft.com/office/powerpoint/2010/main" val="218191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64562C-2014-4CC9-A057-8699AC2307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A4C34C-6295-4701-8013-56ADCA905E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5497AE-305F-4DF8-8530-3AEBB711E7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AA667E-907E-466B-8FC9-F0F970D95720}" type="datetimeFigureOut">
              <a:rPr lang="en-US" smtClean="0"/>
              <a:t>3/6/2021</a:t>
            </a:fld>
            <a:endParaRPr lang="en-US"/>
          </a:p>
        </p:txBody>
      </p:sp>
      <p:sp>
        <p:nvSpPr>
          <p:cNvPr id="5" name="Footer Placeholder 4">
            <a:extLst>
              <a:ext uri="{FF2B5EF4-FFF2-40B4-BE49-F238E27FC236}">
                <a16:creationId xmlns:a16="http://schemas.microsoft.com/office/drawing/2014/main" id="{5063FF45-9FD3-4196-9EAB-94A8DDABCB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9471F7-AD0C-42D2-BD6C-1047F4B0DF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5312BA-0A7B-41C6-A408-E94FD640B10B}" type="slidenum">
              <a:rPr lang="en-US" smtClean="0"/>
              <a:t>‹#›</a:t>
            </a:fld>
            <a:endParaRPr lang="en-US"/>
          </a:p>
        </p:txBody>
      </p:sp>
    </p:spTree>
    <p:extLst>
      <p:ext uri="{BB962C8B-B14F-4D97-AF65-F5344CB8AC3E}">
        <p14:creationId xmlns:p14="http://schemas.microsoft.com/office/powerpoint/2010/main" val="616761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5189306-04D9-4982-9EBE-938B344A1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102C4642-2AB4-49A1-89D9-3E5C01E99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72577" y="1372793"/>
            <a:ext cx="6135300" cy="5537781"/>
          </a:xfrm>
          <a:custGeom>
            <a:avLst/>
            <a:gdLst>
              <a:gd name="connsiteX0" fmla="*/ 0 w 6135300"/>
              <a:gd name="connsiteY0" fmla="*/ 0 h 5537781"/>
              <a:gd name="connsiteX1" fmla="*/ 6135300 w 6135300"/>
              <a:gd name="connsiteY1" fmla="*/ 0 h 5537781"/>
              <a:gd name="connsiteX2" fmla="*/ 6135300 w 6135300"/>
              <a:gd name="connsiteY2" fmla="*/ 3548931 h 5537781"/>
              <a:gd name="connsiteX3" fmla="*/ 4146451 w 6135300"/>
              <a:gd name="connsiteY3" fmla="*/ 5537781 h 5537781"/>
              <a:gd name="connsiteX4" fmla="*/ 0 w 6135300"/>
              <a:gd name="connsiteY4" fmla="*/ 1391331 h 5537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5537781">
                <a:moveTo>
                  <a:pt x="0" y="0"/>
                </a:moveTo>
                <a:lnTo>
                  <a:pt x="6135300" y="0"/>
                </a:lnTo>
                <a:lnTo>
                  <a:pt x="6135300" y="3548931"/>
                </a:lnTo>
                <a:lnTo>
                  <a:pt x="4146451" y="5537781"/>
                </a:lnTo>
                <a:lnTo>
                  <a:pt x="0" y="1391331"/>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82EAAEF9-78E9-4B67-93B4-CD09F7570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069931" y="-1536286"/>
            <a:ext cx="6135300" cy="6135298"/>
          </a:xfrm>
          <a:custGeom>
            <a:avLst/>
            <a:gdLst>
              <a:gd name="connsiteX0" fmla="*/ 0 w 6135300"/>
              <a:gd name="connsiteY0" fmla="*/ 3971712 h 6135298"/>
              <a:gd name="connsiteX1" fmla="*/ 3971712 w 6135300"/>
              <a:gd name="connsiteY1" fmla="*/ 0 h 6135298"/>
              <a:gd name="connsiteX2" fmla="*/ 6135300 w 6135300"/>
              <a:gd name="connsiteY2" fmla="*/ 0 h 6135298"/>
              <a:gd name="connsiteX3" fmla="*/ 6135300 w 6135300"/>
              <a:gd name="connsiteY3" fmla="*/ 6135298 h 6135298"/>
              <a:gd name="connsiteX4" fmla="*/ 0 w 6135300"/>
              <a:gd name="connsiteY4" fmla="*/ 6135298 h 6135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6135298">
                <a:moveTo>
                  <a:pt x="0" y="3971712"/>
                </a:moveTo>
                <a:lnTo>
                  <a:pt x="3971712" y="0"/>
                </a:lnTo>
                <a:lnTo>
                  <a:pt x="6135300" y="0"/>
                </a:lnTo>
                <a:lnTo>
                  <a:pt x="6135300" y="6135298"/>
                </a:lnTo>
                <a:lnTo>
                  <a:pt x="0" y="6135298"/>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2CE23D09-8BA3-4FEE-892D-ACE847DC0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050242" y="292975"/>
            <a:ext cx="5056735" cy="9206602"/>
          </a:xfrm>
          <a:custGeom>
            <a:avLst/>
            <a:gdLst>
              <a:gd name="connsiteX0" fmla="*/ 0 w 5053652"/>
              <a:gd name="connsiteY0" fmla="*/ 209273 h 9200989"/>
              <a:gd name="connsiteX1" fmla="*/ 209274 w 5053652"/>
              <a:gd name="connsiteY1" fmla="*/ 0 h 9200989"/>
              <a:gd name="connsiteX2" fmla="*/ 5053652 w 5053652"/>
              <a:gd name="connsiteY2" fmla="*/ 4844379 h 9200989"/>
              <a:gd name="connsiteX3" fmla="*/ 697042 w 5053652"/>
              <a:gd name="connsiteY3" fmla="*/ 9200989 h 9200989"/>
              <a:gd name="connsiteX4" fmla="*/ 0 w 5053652"/>
              <a:gd name="connsiteY4" fmla="*/ 9200989 h 92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652" h="9200989">
                <a:moveTo>
                  <a:pt x="0" y="209273"/>
                </a:moveTo>
                <a:lnTo>
                  <a:pt x="209274" y="0"/>
                </a:lnTo>
                <a:lnTo>
                  <a:pt x="5053652" y="4844379"/>
                </a:lnTo>
                <a:lnTo>
                  <a:pt x="697042" y="9200989"/>
                </a:lnTo>
                <a:lnTo>
                  <a:pt x="0" y="9200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38684"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3" name="Freeform: Shape 32">
            <a:extLst>
              <a:ext uri="{FF2B5EF4-FFF2-40B4-BE49-F238E27FC236}">
                <a16:creationId xmlns:a16="http://schemas.microsoft.com/office/drawing/2014/main" id="{6BFBE7AA-40DE-4FE5-B385-5CA874501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63919" y="753376"/>
            <a:ext cx="5353835" cy="5353835"/>
          </a:xfrm>
          <a:custGeom>
            <a:avLst/>
            <a:gdLst>
              <a:gd name="connsiteX0" fmla="*/ 690506 w 5353835"/>
              <a:gd name="connsiteY0" fmla="*/ 5273742 h 5353835"/>
              <a:gd name="connsiteX1" fmla="*/ 4927602 w 5353835"/>
              <a:gd name="connsiteY1" fmla="*/ 5273742 h 5353835"/>
              <a:gd name="connsiteX2" fmla="*/ 4847509 w 5353835"/>
              <a:gd name="connsiteY2" fmla="*/ 5353835 h 5353835"/>
              <a:gd name="connsiteX3" fmla="*/ 770599 w 5353835"/>
              <a:gd name="connsiteY3" fmla="*/ 5353835 h 5353835"/>
              <a:gd name="connsiteX4" fmla="*/ 422575 w 5353835"/>
              <a:gd name="connsiteY4" fmla="*/ 80093 h 5353835"/>
              <a:gd name="connsiteX5" fmla="*/ 502668 w 5353835"/>
              <a:gd name="connsiteY5" fmla="*/ 0 h 5353835"/>
              <a:gd name="connsiteX6" fmla="*/ 5353835 w 5353835"/>
              <a:gd name="connsiteY6" fmla="*/ 0 h 5353835"/>
              <a:gd name="connsiteX7" fmla="*/ 5353835 w 5353835"/>
              <a:gd name="connsiteY7" fmla="*/ 4847509 h 5353835"/>
              <a:gd name="connsiteX8" fmla="*/ 5273742 w 5353835"/>
              <a:gd name="connsiteY8" fmla="*/ 4927602 h 5353835"/>
              <a:gd name="connsiteX9" fmla="*/ 5273742 w 5353835"/>
              <a:gd name="connsiteY9" fmla="*/ 80093 h 5353835"/>
              <a:gd name="connsiteX10" fmla="*/ 0 w 5353835"/>
              <a:gd name="connsiteY10" fmla="*/ 502667 h 5353835"/>
              <a:gd name="connsiteX11" fmla="*/ 80093 w 5353835"/>
              <a:gd name="connsiteY11" fmla="*/ 422574 h 5353835"/>
              <a:gd name="connsiteX12" fmla="*/ 80093 w 5353835"/>
              <a:gd name="connsiteY12" fmla="*/ 4663329 h 5353835"/>
              <a:gd name="connsiteX13" fmla="*/ 0 w 5353835"/>
              <a:gd name="connsiteY13" fmla="*/ 4583236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6" y="5273742"/>
                </a:moveTo>
                <a:lnTo>
                  <a:pt x="4927602" y="5273742"/>
                </a:lnTo>
                <a:lnTo>
                  <a:pt x="4847509" y="5353835"/>
                </a:lnTo>
                <a:lnTo>
                  <a:pt x="770599" y="5353835"/>
                </a:lnTo>
                <a:close/>
                <a:moveTo>
                  <a:pt x="422575" y="80093"/>
                </a:moveTo>
                <a:lnTo>
                  <a:pt x="502668" y="0"/>
                </a:lnTo>
                <a:lnTo>
                  <a:pt x="5353835" y="0"/>
                </a:lnTo>
                <a:lnTo>
                  <a:pt x="5353835" y="4847509"/>
                </a:lnTo>
                <a:lnTo>
                  <a:pt x="5273742" y="4927602"/>
                </a:lnTo>
                <a:lnTo>
                  <a:pt x="5273742" y="80093"/>
                </a:lnTo>
                <a:close/>
                <a:moveTo>
                  <a:pt x="0" y="502667"/>
                </a:moveTo>
                <a:lnTo>
                  <a:pt x="80093" y="422574"/>
                </a:lnTo>
                <a:lnTo>
                  <a:pt x="80093" y="4663329"/>
                </a:lnTo>
                <a:lnTo>
                  <a:pt x="0" y="45832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BA8A2AB3-0350-4BD8-B64E-FC36C1BDAED8}"/>
              </a:ext>
            </a:extLst>
          </p:cNvPr>
          <p:cNvSpPr>
            <a:spLocks noGrp="1"/>
          </p:cNvSpPr>
          <p:nvPr>
            <p:ph type="ctrTitle"/>
          </p:nvPr>
        </p:nvSpPr>
        <p:spPr>
          <a:xfrm>
            <a:off x="1116701" y="2452526"/>
            <a:ext cx="4248318" cy="1952947"/>
          </a:xfrm>
          <a:noFill/>
        </p:spPr>
        <p:txBody>
          <a:bodyPr anchor="ctr">
            <a:normAutofit/>
          </a:bodyPr>
          <a:lstStyle/>
          <a:p>
            <a:r>
              <a:rPr lang="en-US" sz="3600">
                <a:solidFill>
                  <a:srgbClr val="080808"/>
                </a:solidFill>
              </a:rPr>
              <a:t>NBA: Points Per Game Analysis</a:t>
            </a:r>
          </a:p>
        </p:txBody>
      </p:sp>
      <p:sp>
        <p:nvSpPr>
          <p:cNvPr id="3" name="Subtitle 2">
            <a:extLst>
              <a:ext uri="{FF2B5EF4-FFF2-40B4-BE49-F238E27FC236}">
                <a16:creationId xmlns:a16="http://schemas.microsoft.com/office/drawing/2014/main" id="{F2A6FC03-D935-466D-95F1-81625A64E4A2}"/>
              </a:ext>
            </a:extLst>
          </p:cNvPr>
          <p:cNvSpPr>
            <a:spLocks noGrp="1"/>
          </p:cNvSpPr>
          <p:nvPr>
            <p:ph type="subTitle" idx="1"/>
          </p:nvPr>
        </p:nvSpPr>
        <p:spPr>
          <a:xfrm>
            <a:off x="1991745" y="4557900"/>
            <a:ext cx="2442690" cy="915772"/>
          </a:xfrm>
          <a:noFill/>
        </p:spPr>
        <p:txBody>
          <a:bodyPr>
            <a:normAutofit/>
          </a:bodyPr>
          <a:lstStyle/>
          <a:p>
            <a:r>
              <a:rPr lang="en-US" sz="1300">
                <a:solidFill>
                  <a:srgbClr val="080808"/>
                </a:solidFill>
              </a:rPr>
              <a:t>Patrik Karlovic</a:t>
            </a:r>
          </a:p>
          <a:p>
            <a:r>
              <a:rPr lang="en-US" sz="1300">
                <a:solidFill>
                  <a:srgbClr val="080808"/>
                </a:solidFill>
              </a:rPr>
              <a:t>DSC 530-T301</a:t>
            </a:r>
          </a:p>
          <a:p>
            <a:r>
              <a:rPr lang="en-US" sz="1300">
                <a:solidFill>
                  <a:srgbClr val="080808"/>
                </a:solidFill>
              </a:rPr>
              <a:t>March 6</a:t>
            </a:r>
            <a:r>
              <a:rPr lang="en-US" sz="1300" baseline="30000">
                <a:solidFill>
                  <a:srgbClr val="080808"/>
                </a:solidFill>
              </a:rPr>
              <a:t>th</a:t>
            </a:r>
            <a:r>
              <a:rPr lang="en-US" sz="1300">
                <a:solidFill>
                  <a:srgbClr val="080808"/>
                </a:solidFill>
              </a:rPr>
              <a:t> 2021</a:t>
            </a:r>
          </a:p>
        </p:txBody>
      </p:sp>
      <p:sp>
        <p:nvSpPr>
          <p:cNvPr id="35" name="Isosceles Triangle 34">
            <a:extLst>
              <a:ext uri="{FF2B5EF4-FFF2-40B4-BE49-F238E27FC236}">
                <a16:creationId xmlns:a16="http://schemas.microsoft.com/office/drawing/2014/main" id="{41ACE746-85D5-45EE-8944-61B542B39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026569" y="0"/>
            <a:ext cx="3216074" cy="1608038"/>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00BB3E03-CC38-4FA6-9A99-701C62D05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6059" y="4738109"/>
            <a:ext cx="4239780" cy="2119891"/>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436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20">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D79C6B-7ED6-4E53-A422-7162A9A7EEC0}"/>
              </a:ext>
            </a:extLst>
          </p:cNvPr>
          <p:cNvSpPr>
            <a:spLocks noGrp="1"/>
          </p:cNvSpPr>
          <p:nvPr>
            <p:ph type="title"/>
          </p:nvPr>
        </p:nvSpPr>
        <p:spPr>
          <a:xfrm>
            <a:off x="643467" y="1698171"/>
            <a:ext cx="3962061" cy="4516360"/>
          </a:xfrm>
        </p:spPr>
        <p:txBody>
          <a:bodyPr anchor="t">
            <a:normAutofit/>
          </a:bodyPr>
          <a:lstStyle/>
          <a:p>
            <a:r>
              <a:rPr lang="en-US" sz="3600"/>
              <a:t>Research Question: What variable plays the largest part in the average points per game a player averages in the NBA? </a:t>
            </a:r>
            <a:br>
              <a:rPr lang="en-US" sz="3600"/>
            </a:br>
            <a:endParaRPr lang="en-US" sz="3600"/>
          </a:p>
        </p:txBody>
      </p:sp>
      <p:sp>
        <p:nvSpPr>
          <p:cNvPr id="34" name="Rectangle 22">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24">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26">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28">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AD1E4EC-F0CB-441D-B7EA-CD69D8269880}"/>
              </a:ext>
            </a:extLst>
          </p:cNvPr>
          <p:cNvSpPr>
            <a:spLocks noGrp="1"/>
          </p:cNvSpPr>
          <p:nvPr>
            <p:ph idx="1"/>
          </p:nvPr>
        </p:nvSpPr>
        <p:spPr>
          <a:xfrm>
            <a:off x="5070020" y="1698170"/>
            <a:ext cx="6478513" cy="4516361"/>
          </a:xfrm>
        </p:spPr>
        <p:txBody>
          <a:bodyPr>
            <a:normAutofit/>
          </a:bodyPr>
          <a:lstStyle/>
          <a:p>
            <a:pPr marL="0" indent="0">
              <a:buNone/>
            </a:pPr>
            <a:r>
              <a:rPr lang="en-US" sz="2000" dirty="0"/>
              <a:t>There is no question that the team which scores the most points in a game wins, an age-old answer to Sports. In this analysis we will be observing how the PPG (Points Per Game) relates to other statistics within an NBA game. </a:t>
            </a:r>
          </a:p>
          <a:p>
            <a:pPr marL="0" indent="0">
              <a:buNone/>
            </a:pPr>
            <a:endParaRPr lang="en-US" sz="2000" dirty="0"/>
          </a:p>
          <a:p>
            <a:pPr marL="0" indent="0">
              <a:buNone/>
            </a:pPr>
            <a:r>
              <a:rPr lang="en-US" sz="2000" dirty="0"/>
              <a:t>Data will be scraped via basketball-reference.com</a:t>
            </a:r>
          </a:p>
        </p:txBody>
      </p:sp>
      <p:sp>
        <p:nvSpPr>
          <p:cNvPr id="31" name="Isosceles Triangle 30">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Isosceles Triangle 32">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22004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A9ADA8-96F4-4F67-8D54-279772062823}"/>
              </a:ext>
            </a:extLst>
          </p:cNvPr>
          <p:cNvSpPr>
            <a:spLocks noGrp="1"/>
          </p:cNvSpPr>
          <p:nvPr>
            <p:ph type="title"/>
          </p:nvPr>
        </p:nvSpPr>
        <p:spPr>
          <a:xfrm>
            <a:off x="643467" y="321734"/>
            <a:ext cx="10905066" cy="1135737"/>
          </a:xfrm>
        </p:spPr>
        <p:txBody>
          <a:bodyPr>
            <a:normAutofit/>
          </a:bodyPr>
          <a:lstStyle/>
          <a:p>
            <a:r>
              <a:rPr lang="en-US" sz="3600"/>
              <a:t>Gathering the Data </a:t>
            </a:r>
          </a:p>
        </p:txBody>
      </p:sp>
      <p:sp>
        <p:nvSpPr>
          <p:cNvPr id="3" name="Content Placeholder 2">
            <a:extLst>
              <a:ext uri="{FF2B5EF4-FFF2-40B4-BE49-F238E27FC236}">
                <a16:creationId xmlns:a16="http://schemas.microsoft.com/office/drawing/2014/main" id="{EE7D2D6B-7001-4B63-AF67-A51465A5FA2C}"/>
              </a:ext>
            </a:extLst>
          </p:cNvPr>
          <p:cNvSpPr>
            <a:spLocks noGrp="1"/>
          </p:cNvSpPr>
          <p:nvPr>
            <p:ph idx="1"/>
          </p:nvPr>
        </p:nvSpPr>
        <p:spPr>
          <a:xfrm>
            <a:off x="643469" y="1782981"/>
            <a:ext cx="4008384" cy="4393982"/>
          </a:xfrm>
        </p:spPr>
        <p:txBody>
          <a:bodyPr>
            <a:normAutofit/>
          </a:bodyPr>
          <a:lstStyle/>
          <a:p>
            <a:pPr marL="0" indent="0">
              <a:buNone/>
            </a:pPr>
            <a:r>
              <a:rPr lang="en-US" sz="2000"/>
              <a:t>Data is gathered by requesting an URL and parsing through the page to scrape statistical data on the statistics for 2020-2021 season.</a:t>
            </a:r>
          </a:p>
          <a:p>
            <a:pPr marL="0" indent="0">
              <a:buNone/>
            </a:pPr>
            <a:endParaRPr lang="en-US" sz="2000"/>
          </a:p>
          <a:p>
            <a:pPr marL="0" indent="0">
              <a:buNone/>
            </a:pPr>
            <a:r>
              <a:rPr lang="en-US" sz="2000"/>
              <a:t>We then narrowed down our data to variables which related to the amount of points a player scored throughout a game. </a:t>
            </a:r>
          </a:p>
        </p:txBody>
      </p:sp>
      <p:grpSp>
        <p:nvGrpSpPr>
          <p:cNvPr id="25" name="Group 24">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6" name="Isosceles Triangle 2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5E586ECC-7242-49D0-8D7E-01017528BCD0}"/>
              </a:ext>
            </a:extLst>
          </p:cNvPr>
          <p:cNvPicPr>
            <a:picLocks noChangeAspect="1"/>
          </p:cNvPicPr>
          <p:nvPr/>
        </p:nvPicPr>
        <p:blipFill rotWithShape="1">
          <a:blip r:embed="rId2"/>
          <a:srcRect r="32768" b="3"/>
          <a:stretch/>
        </p:blipFill>
        <p:spPr>
          <a:xfrm>
            <a:off x="5788592" y="1782981"/>
            <a:ext cx="5266667" cy="4361892"/>
          </a:xfrm>
          <a:prstGeom prst="rect">
            <a:avLst/>
          </a:prstGeom>
        </p:spPr>
      </p:pic>
      <p:grpSp>
        <p:nvGrpSpPr>
          <p:cNvPr id="29" name="Group 28">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0" name="Rectangle 29">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19352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7DE351-3FA3-439E-8D65-CE55624737B1}"/>
              </a:ext>
            </a:extLst>
          </p:cNvPr>
          <p:cNvSpPr>
            <a:spLocks noGrp="1"/>
          </p:cNvSpPr>
          <p:nvPr>
            <p:ph type="title"/>
          </p:nvPr>
        </p:nvSpPr>
        <p:spPr>
          <a:xfrm>
            <a:off x="643467" y="321734"/>
            <a:ext cx="10905066" cy="1135737"/>
          </a:xfrm>
        </p:spPr>
        <p:txBody>
          <a:bodyPr>
            <a:normAutofit/>
          </a:bodyPr>
          <a:lstStyle/>
          <a:p>
            <a:r>
              <a:rPr lang="en-US" sz="3600"/>
              <a:t>The Data:</a:t>
            </a:r>
          </a:p>
        </p:txBody>
      </p:sp>
      <p:sp>
        <p:nvSpPr>
          <p:cNvPr id="9" name="Content Placeholder 8">
            <a:extLst>
              <a:ext uri="{FF2B5EF4-FFF2-40B4-BE49-F238E27FC236}">
                <a16:creationId xmlns:a16="http://schemas.microsoft.com/office/drawing/2014/main" id="{09EA49CA-2707-42DB-9C89-41B4F8CDDDCF}"/>
              </a:ext>
            </a:extLst>
          </p:cNvPr>
          <p:cNvSpPr>
            <a:spLocks noGrp="1"/>
          </p:cNvSpPr>
          <p:nvPr>
            <p:ph idx="1"/>
          </p:nvPr>
        </p:nvSpPr>
        <p:spPr>
          <a:xfrm>
            <a:off x="643469" y="1782981"/>
            <a:ext cx="4008384" cy="4393982"/>
          </a:xfrm>
        </p:spPr>
        <p:txBody>
          <a:bodyPr>
            <a:normAutofit/>
          </a:bodyPr>
          <a:lstStyle/>
          <a:p>
            <a:pPr marL="0" indent="0">
              <a:buNone/>
            </a:pPr>
            <a:r>
              <a:rPr lang="en-US" sz="2000" dirty="0"/>
              <a:t>Once we loaded our data, we used the pandas profile report for a quick look at our data which includes the correlation charts, scatter plots, as well as information on the distribution of individual variables within our dataset. </a:t>
            </a:r>
          </a:p>
        </p:txBody>
      </p:sp>
      <p:grpSp>
        <p:nvGrpSpPr>
          <p:cNvPr id="34" name="Group 33">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35" name="Isosceles Triangle 3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a:extLst>
              <a:ext uri="{FF2B5EF4-FFF2-40B4-BE49-F238E27FC236}">
                <a16:creationId xmlns:a16="http://schemas.microsoft.com/office/drawing/2014/main" id="{00A1EA9F-D93B-4EA7-8D5F-8C256F30B434}"/>
              </a:ext>
            </a:extLst>
          </p:cNvPr>
          <p:cNvPicPr>
            <a:picLocks noChangeAspect="1"/>
          </p:cNvPicPr>
          <p:nvPr/>
        </p:nvPicPr>
        <p:blipFill rotWithShape="1">
          <a:blip r:embed="rId2"/>
          <a:srcRect r="185" b="-1"/>
          <a:stretch/>
        </p:blipFill>
        <p:spPr>
          <a:xfrm>
            <a:off x="5788592" y="1782981"/>
            <a:ext cx="5266668" cy="4361892"/>
          </a:xfrm>
          <a:prstGeom prst="rect">
            <a:avLst/>
          </a:prstGeom>
        </p:spPr>
      </p:pic>
      <p:grpSp>
        <p:nvGrpSpPr>
          <p:cNvPr id="38" name="Group 37">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9" name="Rectangle 38">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80688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EB5024-B4F9-427D-92D5-5DA52A46D76E}"/>
              </a:ext>
            </a:extLst>
          </p:cNvPr>
          <p:cNvSpPr>
            <a:spLocks noGrp="1"/>
          </p:cNvSpPr>
          <p:nvPr>
            <p:ph type="title"/>
          </p:nvPr>
        </p:nvSpPr>
        <p:spPr>
          <a:xfrm>
            <a:off x="643467" y="321734"/>
            <a:ext cx="10905066" cy="1135737"/>
          </a:xfrm>
        </p:spPr>
        <p:txBody>
          <a:bodyPr>
            <a:normAutofit/>
          </a:bodyPr>
          <a:lstStyle/>
          <a:p>
            <a:r>
              <a:rPr lang="en-US" sz="3600"/>
              <a:t>Field Goal Percentage </a:t>
            </a:r>
          </a:p>
        </p:txBody>
      </p:sp>
      <p:sp>
        <p:nvSpPr>
          <p:cNvPr id="3" name="Content Placeholder 2">
            <a:extLst>
              <a:ext uri="{FF2B5EF4-FFF2-40B4-BE49-F238E27FC236}">
                <a16:creationId xmlns:a16="http://schemas.microsoft.com/office/drawing/2014/main" id="{4BC96D6A-8714-44BD-B7D1-7DFF14814F24}"/>
              </a:ext>
            </a:extLst>
          </p:cNvPr>
          <p:cNvSpPr>
            <a:spLocks noGrp="1"/>
          </p:cNvSpPr>
          <p:nvPr>
            <p:ph idx="1"/>
          </p:nvPr>
        </p:nvSpPr>
        <p:spPr>
          <a:xfrm>
            <a:off x="643469" y="1782981"/>
            <a:ext cx="4008384" cy="4393982"/>
          </a:xfrm>
        </p:spPr>
        <p:txBody>
          <a:bodyPr>
            <a:normAutofit/>
          </a:bodyPr>
          <a:lstStyle/>
          <a:p>
            <a:pPr marL="0" indent="0">
              <a:buNone/>
            </a:pPr>
            <a:r>
              <a:rPr lang="en-US" sz="2000"/>
              <a:t>Minimum: 0</a:t>
            </a:r>
          </a:p>
          <a:p>
            <a:pPr marL="0" indent="0">
              <a:buNone/>
            </a:pPr>
            <a:r>
              <a:rPr lang="en-US" sz="2000"/>
              <a:t>Maximum .762</a:t>
            </a:r>
          </a:p>
          <a:p>
            <a:pPr marL="0" indent="0">
              <a:buNone/>
            </a:pPr>
            <a:r>
              <a:rPr lang="en-US" sz="2000"/>
              <a:t>Mean: .438</a:t>
            </a:r>
          </a:p>
          <a:p>
            <a:pPr marL="0" indent="0">
              <a:buNone/>
            </a:pPr>
            <a:r>
              <a:rPr lang="en-US" sz="2000"/>
              <a:t>Skewed to the Right</a:t>
            </a:r>
          </a:p>
          <a:p>
            <a:pPr marL="0" indent="0">
              <a:buNone/>
            </a:pPr>
            <a:r>
              <a:rPr lang="en-US" sz="2000"/>
              <a:t>We see outliers with players who make 0% of their shots as well as players who make above 70% of their shots. There are low volume shooters who have not made many shot attempts, so their numbers are highly skewed in one direction,</a:t>
            </a:r>
          </a:p>
          <a:p>
            <a:pPr marL="0" indent="0">
              <a:buNone/>
            </a:pPr>
            <a:endParaRPr lang="en-US" sz="2000"/>
          </a:p>
        </p:txBody>
      </p:sp>
      <p:grpSp>
        <p:nvGrpSpPr>
          <p:cNvPr id="137" name="Group 13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8" name="Isosceles Triangle 13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a:extLst>
              <a:ext uri="{FF2B5EF4-FFF2-40B4-BE49-F238E27FC236}">
                <a16:creationId xmlns:a16="http://schemas.microsoft.com/office/drawing/2014/main" id="{34051FC7-DB86-40A5-8EC0-5737096E17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95320" y="1845652"/>
            <a:ext cx="6253212" cy="4236550"/>
          </a:xfrm>
          <a:prstGeom prst="rect">
            <a:avLst/>
          </a:prstGeom>
          <a:noFill/>
          <a:extLst>
            <a:ext uri="{909E8E84-426E-40DD-AFC4-6F175D3DCCD1}">
              <a14:hiddenFill xmlns:a14="http://schemas.microsoft.com/office/drawing/2010/main">
                <a:solidFill>
                  <a:srgbClr val="FFFFFF"/>
                </a:solidFill>
              </a14:hiddenFill>
            </a:ext>
          </a:extLst>
        </p:spPr>
      </p:pic>
      <p:grpSp>
        <p:nvGrpSpPr>
          <p:cNvPr id="141" name="Group 14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42" name="Rectangle 14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Isosceles Triangle 14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664871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0A9EE72-AE09-4444-A6BB-150219F4C587}"/>
              </a:ext>
            </a:extLst>
          </p:cNvPr>
          <p:cNvSpPr>
            <a:spLocks noGrp="1"/>
          </p:cNvSpPr>
          <p:nvPr>
            <p:ph type="title"/>
          </p:nvPr>
        </p:nvSpPr>
        <p:spPr>
          <a:xfrm>
            <a:off x="643467" y="321734"/>
            <a:ext cx="10905066" cy="1135737"/>
          </a:xfrm>
        </p:spPr>
        <p:txBody>
          <a:bodyPr>
            <a:normAutofit/>
          </a:bodyPr>
          <a:lstStyle/>
          <a:p>
            <a:r>
              <a:rPr lang="en-US" sz="3600"/>
              <a:t>Field Goal Attempts</a:t>
            </a:r>
          </a:p>
        </p:txBody>
      </p:sp>
      <p:sp>
        <p:nvSpPr>
          <p:cNvPr id="3" name="Content Placeholder 2">
            <a:extLst>
              <a:ext uri="{FF2B5EF4-FFF2-40B4-BE49-F238E27FC236}">
                <a16:creationId xmlns:a16="http://schemas.microsoft.com/office/drawing/2014/main" id="{D20DB5BB-BE56-4289-AA17-50ABA0FA5F4E}"/>
              </a:ext>
            </a:extLst>
          </p:cNvPr>
          <p:cNvSpPr>
            <a:spLocks noGrp="1"/>
          </p:cNvSpPr>
          <p:nvPr>
            <p:ph idx="1"/>
          </p:nvPr>
        </p:nvSpPr>
        <p:spPr>
          <a:xfrm>
            <a:off x="643469" y="1782981"/>
            <a:ext cx="4008384" cy="4393982"/>
          </a:xfrm>
        </p:spPr>
        <p:txBody>
          <a:bodyPr>
            <a:normAutofit/>
          </a:bodyPr>
          <a:lstStyle/>
          <a:p>
            <a:pPr marL="0" indent="0">
              <a:buNone/>
            </a:pPr>
            <a:r>
              <a:rPr lang="en-US" sz="2000"/>
              <a:t>Mean: 7.49</a:t>
            </a:r>
          </a:p>
          <a:p>
            <a:pPr marL="0" indent="0">
              <a:buNone/>
            </a:pPr>
            <a:r>
              <a:rPr lang="en-US" sz="2000"/>
              <a:t>Maximum: 23.8</a:t>
            </a:r>
          </a:p>
          <a:p>
            <a:pPr marL="0" indent="0">
              <a:buNone/>
            </a:pPr>
            <a:r>
              <a:rPr lang="en-US" sz="2000"/>
              <a:t>Minimum 0.4</a:t>
            </a:r>
          </a:p>
          <a:p>
            <a:pPr marL="0" indent="0">
              <a:buNone/>
            </a:pPr>
            <a:r>
              <a:rPr lang="en-US" sz="2000"/>
              <a:t>Skewed to the left. </a:t>
            </a:r>
          </a:p>
          <a:p>
            <a:pPr marL="0" indent="0">
              <a:buNone/>
            </a:pPr>
            <a:r>
              <a:rPr lang="en-US" sz="2000"/>
              <a:t>We see a few outliers in players who take above 20 shots per game, this is normal as 'Star Players' on lower tier teams tend to have more oppurtunities for field goal attempts. </a:t>
            </a:r>
          </a:p>
        </p:txBody>
      </p:sp>
      <p:grpSp>
        <p:nvGrpSpPr>
          <p:cNvPr id="137" name="Group 13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8" name="Isosceles Triangle 13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0" name="Picture 2">
            <a:extLst>
              <a:ext uri="{FF2B5EF4-FFF2-40B4-BE49-F238E27FC236}">
                <a16:creationId xmlns:a16="http://schemas.microsoft.com/office/drawing/2014/main" id="{0E62CB6A-38A0-402C-A71F-031D19B4C4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03" r="12494" b="2"/>
          <a:stretch/>
        </p:blipFill>
        <p:spPr bwMode="auto">
          <a:xfrm>
            <a:off x="5788604" y="1782981"/>
            <a:ext cx="5266644" cy="4361892"/>
          </a:xfrm>
          <a:prstGeom prst="rect">
            <a:avLst/>
          </a:prstGeom>
          <a:noFill/>
          <a:extLst>
            <a:ext uri="{909E8E84-426E-40DD-AFC4-6F175D3DCCD1}">
              <a14:hiddenFill xmlns:a14="http://schemas.microsoft.com/office/drawing/2010/main">
                <a:solidFill>
                  <a:srgbClr val="FFFFFF"/>
                </a:solidFill>
              </a14:hiddenFill>
            </a:ext>
          </a:extLst>
        </p:spPr>
      </p:pic>
      <p:grpSp>
        <p:nvGrpSpPr>
          <p:cNvPr id="141" name="Group 14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42" name="Rectangle 14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Isosceles Triangle 14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23654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2" name="Rectangle 19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8DDD3A-8B30-4E72-A7A9-148FF18200C7}"/>
              </a:ext>
            </a:extLst>
          </p:cNvPr>
          <p:cNvSpPr>
            <a:spLocks noGrp="1"/>
          </p:cNvSpPr>
          <p:nvPr>
            <p:ph type="title"/>
          </p:nvPr>
        </p:nvSpPr>
        <p:spPr>
          <a:xfrm>
            <a:off x="643467" y="321734"/>
            <a:ext cx="10905066" cy="1135737"/>
          </a:xfrm>
        </p:spPr>
        <p:txBody>
          <a:bodyPr>
            <a:normAutofit/>
          </a:bodyPr>
          <a:lstStyle/>
          <a:p>
            <a:r>
              <a:rPr lang="en-US" sz="3600"/>
              <a:t>Minutes Played</a:t>
            </a:r>
          </a:p>
        </p:txBody>
      </p:sp>
      <p:sp>
        <p:nvSpPr>
          <p:cNvPr id="3" name="Content Placeholder 2">
            <a:extLst>
              <a:ext uri="{FF2B5EF4-FFF2-40B4-BE49-F238E27FC236}">
                <a16:creationId xmlns:a16="http://schemas.microsoft.com/office/drawing/2014/main" id="{4A5DC7D5-7BB7-4668-8103-B762EBDE9EAE}"/>
              </a:ext>
            </a:extLst>
          </p:cNvPr>
          <p:cNvSpPr>
            <a:spLocks noGrp="1"/>
          </p:cNvSpPr>
          <p:nvPr>
            <p:ph idx="1"/>
          </p:nvPr>
        </p:nvSpPr>
        <p:spPr>
          <a:xfrm>
            <a:off x="643469" y="1782981"/>
            <a:ext cx="4008384" cy="4393982"/>
          </a:xfrm>
        </p:spPr>
        <p:txBody>
          <a:bodyPr>
            <a:normAutofit/>
          </a:bodyPr>
          <a:lstStyle/>
          <a:p>
            <a:pPr marL="0" indent="0">
              <a:buNone/>
            </a:pPr>
            <a:r>
              <a:rPr lang="en-US" sz="1700"/>
              <a:t>Mean: 20.49</a:t>
            </a:r>
          </a:p>
          <a:p>
            <a:pPr marL="0" indent="0">
              <a:buNone/>
            </a:pPr>
            <a:r>
              <a:rPr lang="en-US" sz="1700"/>
              <a:t>Maximum: 38.4</a:t>
            </a:r>
          </a:p>
          <a:p>
            <a:pPr marL="0" indent="0">
              <a:buNone/>
            </a:pPr>
            <a:r>
              <a:rPr lang="en-US" sz="1700"/>
              <a:t>Minimum: 2</a:t>
            </a:r>
          </a:p>
          <a:p>
            <a:pPr marL="0" indent="0">
              <a:buNone/>
            </a:pPr>
            <a:r>
              <a:rPr lang="en-US" sz="1700"/>
              <a:t>Skewed slightly to the right.</a:t>
            </a:r>
          </a:p>
          <a:p>
            <a:pPr marL="0" indent="0">
              <a:buNone/>
            </a:pPr>
            <a:r>
              <a:rPr lang="en-US" sz="1700"/>
              <a:t>Data is distributed pretty evenly with no immediate outliers. We see some players who have an increased minutes player per game which is expected as some players are required to be out on the court for extended periods as compared to the rest of the team in order to apply maximum influence within a game. Seems to be distributed pretty evenly with no evident tails of the data. </a:t>
            </a:r>
          </a:p>
        </p:txBody>
      </p:sp>
      <p:grpSp>
        <p:nvGrpSpPr>
          <p:cNvPr id="193" name="Group 192">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94" name="Isosceles Triangle 19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74" name="Picture 2">
            <a:extLst>
              <a:ext uri="{FF2B5EF4-FFF2-40B4-BE49-F238E27FC236}">
                <a16:creationId xmlns:a16="http://schemas.microsoft.com/office/drawing/2014/main" id="{30422573-3B2B-4B68-B8E2-D17A96BCE7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763" r="7832" b="2"/>
          <a:stretch/>
        </p:blipFill>
        <p:spPr bwMode="auto">
          <a:xfrm>
            <a:off x="5788600" y="1782981"/>
            <a:ext cx="5266651" cy="4361892"/>
          </a:xfrm>
          <a:prstGeom prst="rect">
            <a:avLst/>
          </a:prstGeom>
          <a:noFill/>
          <a:extLst>
            <a:ext uri="{909E8E84-426E-40DD-AFC4-6F175D3DCCD1}">
              <a14:hiddenFill xmlns:a14="http://schemas.microsoft.com/office/drawing/2010/main">
                <a:solidFill>
                  <a:srgbClr val="FFFFFF"/>
                </a:solidFill>
              </a14:hiddenFill>
            </a:ext>
          </a:extLst>
        </p:spPr>
      </p:pic>
      <p:grpSp>
        <p:nvGrpSpPr>
          <p:cNvPr id="196" name="Group 19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97" name="Rectangle 19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Isosceles Triangle 19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28179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5FF8FB-95F7-4BED-A246-EEA4F14D89E5}"/>
              </a:ext>
            </a:extLst>
          </p:cNvPr>
          <p:cNvSpPr>
            <a:spLocks noGrp="1"/>
          </p:cNvSpPr>
          <p:nvPr>
            <p:ph type="title"/>
          </p:nvPr>
        </p:nvSpPr>
        <p:spPr>
          <a:xfrm>
            <a:off x="643467" y="321734"/>
            <a:ext cx="10905066" cy="1135737"/>
          </a:xfrm>
        </p:spPr>
        <p:txBody>
          <a:bodyPr>
            <a:normAutofit/>
          </a:bodyPr>
          <a:lstStyle/>
          <a:p>
            <a:r>
              <a:rPr lang="en-US" sz="3600"/>
              <a:t>Points Per Game</a:t>
            </a:r>
          </a:p>
        </p:txBody>
      </p:sp>
      <p:sp>
        <p:nvSpPr>
          <p:cNvPr id="3" name="Content Placeholder 2">
            <a:extLst>
              <a:ext uri="{FF2B5EF4-FFF2-40B4-BE49-F238E27FC236}">
                <a16:creationId xmlns:a16="http://schemas.microsoft.com/office/drawing/2014/main" id="{5F56F969-1FB7-43A8-B242-A3C1862CB7EA}"/>
              </a:ext>
            </a:extLst>
          </p:cNvPr>
          <p:cNvSpPr>
            <a:spLocks noGrp="1"/>
          </p:cNvSpPr>
          <p:nvPr>
            <p:ph idx="1"/>
          </p:nvPr>
        </p:nvSpPr>
        <p:spPr>
          <a:xfrm>
            <a:off x="643469" y="1782981"/>
            <a:ext cx="4008384" cy="4393982"/>
          </a:xfrm>
        </p:spPr>
        <p:txBody>
          <a:bodyPr>
            <a:normAutofit/>
          </a:bodyPr>
          <a:lstStyle/>
          <a:p>
            <a:pPr marL="0" indent="0">
              <a:buNone/>
            </a:pPr>
            <a:r>
              <a:rPr lang="en-US" sz="2000"/>
              <a:t>Mean 9.38</a:t>
            </a:r>
          </a:p>
          <a:p>
            <a:pPr marL="0" indent="0">
              <a:buNone/>
            </a:pPr>
            <a:r>
              <a:rPr lang="en-US" sz="2000"/>
              <a:t>Minimum 0</a:t>
            </a:r>
          </a:p>
          <a:p>
            <a:pPr marL="0" indent="0">
              <a:buNone/>
            </a:pPr>
            <a:r>
              <a:rPr lang="en-US" sz="2000"/>
              <a:t>Maximum 32.9</a:t>
            </a:r>
          </a:p>
          <a:p>
            <a:pPr marL="0" indent="0">
              <a:buNone/>
            </a:pPr>
            <a:r>
              <a:rPr lang="en-US" sz="2000"/>
              <a:t>Skewed to the left with multiple clusters with decreasing counts as the value of Points Scored per game increase.</a:t>
            </a:r>
          </a:p>
        </p:txBody>
      </p:sp>
      <p:grpSp>
        <p:nvGrpSpPr>
          <p:cNvPr id="137" name="Group 13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8" name="Isosceles Triangle 13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098" name="Picture 2">
            <a:extLst>
              <a:ext uri="{FF2B5EF4-FFF2-40B4-BE49-F238E27FC236}">
                <a16:creationId xmlns:a16="http://schemas.microsoft.com/office/drawing/2014/main" id="{9025680C-50B4-42F7-8299-977AF5658C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7292"/>
          <a:stretch/>
        </p:blipFill>
        <p:spPr bwMode="auto">
          <a:xfrm>
            <a:off x="5788617" y="1782981"/>
            <a:ext cx="5266618" cy="4361892"/>
          </a:xfrm>
          <a:prstGeom prst="rect">
            <a:avLst/>
          </a:prstGeom>
          <a:noFill/>
          <a:extLst>
            <a:ext uri="{909E8E84-426E-40DD-AFC4-6F175D3DCCD1}">
              <a14:hiddenFill xmlns:a14="http://schemas.microsoft.com/office/drawing/2010/main">
                <a:solidFill>
                  <a:srgbClr val="FFFFFF"/>
                </a:solidFill>
              </a14:hiddenFill>
            </a:ext>
          </a:extLst>
        </p:spPr>
      </p:pic>
      <p:grpSp>
        <p:nvGrpSpPr>
          <p:cNvPr id="141" name="Group 14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42" name="Rectangle 14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Isosceles Triangle 14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32107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2" name="Rectangle 19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106E6E-CA8C-46A8-8598-3672673ACD5A}"/>
              </a:ext>
            </a:extLst>
          </p:cNvPr>
          <p:cNvSpPr>
            <a:spLocks noGrp="1"/>
          </p:cNvSpPr>
          <p:nvPr>
            <p:ph type="title"/>
          </p:nvPr>
        </p:nvSpPr>
        <p:spPr>
          <a:xfrm>
            <a:off x="643467" y="321734"/>
            <a:ext cx="4970877" cy="1135737"/>
          </a:xfrm>
        </p:spPr>
        <p:txBody>
          <a:bodyPr>
            <a:normAutofit/>
          </a:bodyPr>
          <a:lstStyle/>
          <a:p>
            <a:r>
              <a:rPr lang="en-US" sz="3600"/>
              <a:t>Efficient Field Goal Percentage</a:t>
            </a:r>
          </a:p>
        </p:txBody>
      </p:sp>
      <p:sp>
        <p:nvSpPr>
          <p:cNvPr id="5126" name="Content Placeholder 5125">
            <a:extLst>
              <a:ext uri="{FF2B5EF4-FFF2-40B4-BE49-F238E27FC236}">
                <a16:creationId xmlns:a16="http://schemas.microsoft.com/office/drawing/2014/main" id="{ED8527EB-068D-4924-8607-C3469F52290C}"/>
              </a:ext>
            </a:extLst>
          </p:cNvPr>
          <p:cNvSpPr>
            <a:spLocks noGrp="1"/>
          </p:cNvSpPr>
          <p:nvPr>
            <p:ph idx="1"/>
          </p:nvPr>
        </p:nvSpPr>
        <p:spPr>
          <a:xfrm>
            <a:off x="643468" y="1782981"/>
            <a:ext cx="4970877" cy="4393982"/>
          </a:xfrm>
        </p:spPr>
        <p:txBody>
          <a:bodyPr>
            <a:normAutofit/>
          </a:bodyPr>
          <a:lstStyle/>
          <a:p>
            <a:pPr marL="0" indent="0">
              <a:buNone/>
            </a:pPr>
            <a:r>
              <a:rPr lang="en-US" sz="2000"/>
              <a:t>Mean .511</a:t>
            </a:r>
          </a:p>
          <a:p>
            <a:pPr marL="0" indent="0">
              <a:buNone/>
            </a:pPr>
            <a:r>
              <a:rPr lang="en-US" sz="2000"/>
              <a:t>Maximum .762</a:t>
            </a:r>
          </a:p>
          <a:p>
            <a:pPr marL="0" indent="0">
              <a:buNone/>
            </a:pPr>
            <a:r>
              <a:rPr lang="en-US" sz="2000"/>
              <a:t>Minimum 0</a:t>
            </a:r>
          </a:p>
          <a:p>
            <a:pPr marL="0" indent="0">
              <a:buNone/>
            </a:pPr>
            <a:r>
              <a:rPr lang="en-US" sz="2000"/>
              <a:t>The data seems to be clustered around mean which quickly drops off as the eFG% drops. The data is skewed slightly to the right. </a:t>
            </a:r>
          </a:p>
        </p:txBody>
      </p:sp>
      <p:sp>
        <p:nvSpPr>
          <p:cNvPr id="193" name="Isosceles Triangle 19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Chart, histogram&#10;&#10;Description automatically generated">
            <a:extLst>
              <a:ext uri="{FF2B5EF4-FFF2-40B4-BE49-F238E27FC236}">
                <a16:creationId xmlns:a16="http://schemas.microsoft.com/office/drawing/2014/main" id="{E1A3B32D-308F-428D-967A-C75847C192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786" r="8410" b="-2"/>
          <a:stretch/>
        </p:blipFill>
        <p:spPr bwMode="auto">
          <a:xfrm>
            <a:off x="6257813" y="1238072"/>
            <a:ext cx="5290720" cy="4381855"/>
          </a:xfrm>
          <a:prstGeom prst="rect">
            <a:avLst/>
          </a:prstGeom>
          <a:noFill/>
          <a:extLst>
            <a:ext uri="{909E8E84-426E-40DD-AFC4-6F175D3DCCD1}">
              <a14:hiddenFill xmlns:a14="http://schemas.microsoft.com/office/drawing/2010/main">
                <a:solidFill>
                  <a:srgbClr val="FFFFFF"/>
                </a:solidFill>
              </a14:hiddenFill>
            </a:ext>
          </a:extLst>
        </p:spPr>
      </p:pic>
      <p:grpSp>
        <p:nvGrpSpPr>
          <p:cNvPr id="195" name="Group 194">
            <a:extLst>
              <a:ext uri="{FF2B5EF4-FFF2-40B4-BE49-F238E27FC236}">
                <a16:creationId xmlns:a16="http://schemas.microsoft.com/office/drawing/2014/main" id="{15CBE6EC-46EF-45D9-8E16-DCDC5917CA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196" name="Isosceles Triangle 195">
              <a:extLst>
                <a:ext uri="{FF2B5EF4-FFF2-40B4-BE49-F238E27FC236}">
                  <a16:creationId xmlns:a16="http://schemas.microsoft.com/office/drawing/2014/main" id="{DEEDCD65-9740-4F34-BDF1-9C068E053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Rectangle 196">
              <a:extLst>
                <a:ext uri="{FF2B5EF4-FFF2-40B4-BE49-F238E27FC236}">
                  <a16:creationId xmlns:a16="http://schemas.microsoft.com/office/drawing/2014/main" id="{4B3DA7FD-5CC0-46D1-9DFB-5BAF6BE24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1905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2" name="Rectangle 19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3" name="Group 192">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194" name="Rectangle 193">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Isosceles Triangle 194">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8D1F7121-0178-4B18-AE9F-A27F6E1EB955}"/>
              </a:ext>
            </a:extLst>
          </p:cNvPr>
          <p:cNvSpPr>
            <a:spLocks noGrp="1"/>
          </p:cNvSpPr>
          <p:nvPr>
            <p:ph type="title"/>
          </p:nvPr>
        </p:nvSpPr>
        <p:spPr>
          <a:xfrm>
            <a:off x="643467" y="321734"/>
            <a:ext cx="10905066" cy="1135737"/>
          </a:xfrm>
        </p:spPr>
        <p:txBody>
          <a:bodyPr>
            <a:normAutofit/>
          </a:bodyPr>
          <a:lstStyle/>
          <a:p>
            <a:r>
              <a:rPr lang="en-US" sz="3600" dirty="0"/>
              <a:t>Probability Mass Function</a:t>
            </a:r>
          </a:p>
        </p:txBody>
      </p:sp>
      <p:pic>
        <p:nvPicPr>
          <p:cNvPr id="6146" name="Picture 2">
            <a:extLst>
              <a:ext uri="{FF2B5EF4-FFF2-40B4-BE49-F238E27FC236}">
                <a16:creationId xmlns:a16="http://schemas.microsoft.com/office/drawing/2014/main" id="{40AF780D-C351-4CD7-AB0F-BE23D3D94D7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0224" y="1782981"/>
            <a:ext cx="6159700" cy="4361892"/>
          </a:xfrm>
          <a:prstGeom prst="rect">
            <a:avLst/>
          </a:prstGeom>
          <a:noFill/>
          <a:extLst>
            <a:ext uri="{909E8E84-426E-40DD-AFC4-6F175D3DCCD1}">
              <a14:hiddenFill xmlns:a14="http://schemas.microsoft.com/office/drawing/2010/main">
                <a:solidFill>
                  <a:srgbClr val="FFFFFF"/>
                </a:solidFill>
              </a14:hiddenFill>
            </a:ext>
          </a:extLst>
        </p:spPr>
      </p:pic>
      <p:sp>
        <p:nvSpPr>
          <p:cNvPr id="6150" name="Content Placeholder 6149">
            <a:extLst>
              <a:ext uri="{FF2B5EF4-FFF2-40B4-BE49-F238E27FC236}">
                <a16:creationId xmlns:a16="http://schemas.microsoft.com/office/drawing/2014/main" id="{CAC5D203-9415-4805-8DB5-D7366D8913D3}"/>
              </a:ext>
            </a:extLst>
          </p:cNvPr>
          <p:cNvSpPr>
            <a:spLocks noGrp="1"/>
          </p:cNvSpPr>
          <p:nvPr>
            <p:ph idx="1"/>
          </p:nvPr>
        </p:nvSpPr>
        <p:spPr>
          <a:xfrm>
            <a:off x="7544052" y="1782981"/>
            <a:ext cx="4004479" cy="4393982"/>
          </a:xfrm>
        </p:spPr>
        <p:txBody>
          <a:bodyPr>
            <a:normAutofit/>
          </a:bodyPr>
          <a:lstStyle/>
          <a:p>
            <a:pPr marL="0" indent="0">
              <a:buNone/>
            </a:pPr>
            <a:r>
              <a:rPr lang="en-US" sz="1900"/>
              <a:t>Here we see a distribution of the probabilities for Points Per Game dependent on the position of a Point Guard (Dark Blue) and Center (Light Blue), this is an interesting distribution to look at as these two positions have the largest gaps in heights between all positions. Point Guards tend to be the shortest position in the NBA as centers tend to be the Largest. There is not an evident difference between position played and Points Scored Per Game via the use of Probability Mass Functions of different positions and PPG</a:t>
            </a:r>
          </a:p>
        </p:txBody>
      </p:sp>
      <p:grpSp>
        <p:nvGrpSpPr>
          <p:cNvPr id="196" name="Group 195">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197" name="Isosceles Triangle 196">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14694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2" name="Rectangle 7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248869-BC69-4237-9281-A8410DEAD503}"/>
              </a:ext>
            </a:extLst>
          </p:cNvPr>
          <p:cNvSpPr>
            <a:spLocks noGrp="1"/>
          </p:cNvSpPr>
          <p:nvPr>
            <p:ph type="title"/>
          </p:nvPr>
        </p:nvSpPr>
        <p:spPr>
          <a:xfrm>
            <a:off x="643467" y="321734"/>
            <a:ext cx="10905066" cy="1135737"/>
          </a:xfrm>
        </p:spPr>
        <p:txBody>
          <a:bodyPr>
            <a:normAutofit/>
          </a:bodyPr>
          <a:lstStyle/>
          <a:p>
            <a:r>
              <a:rPr lang="en-US" sz="3600"/>
              <a:t>Cumulative Distribution Function</a:t>
            </a:r>
          </a:p>
        </p:txBody>
      </p:sp>
      <p:sp>
        <p:nvSpPr>
          <p:cNvPr id="3" name="Content Placeholder 2">
            <a:extLst>
              <a:ext uri="{FF2B5EF4-FFF2-40B4-BE49-F238E27FC236}">
                <a16:creationId xmlns:a16="http://schemas.microsoft.com/office/drawing/2014/main" id="{D8AE5174-AF06-4FFC-896A-C012A9D4F66D}"/>
              </a:ext>
            </a:extLst>
          </p:cNvPr>
          <p:cNvSpPr>
            <a:spLocks noGrp="1"/>
          </p:cNvSpPr>
          <p:nvPr>
            <p:ph idx="1"/>
          </p:nvPr>
        </p:nvSpPr>
        <p:spPr>
          <a:xfrm>
            <a:off x="643469" y="1782981"/>
            <a:ext cx="4008384" cy="4393982"/>
          </a:xfrm>
        </p:spPr>
        <p:txBody>
          <a:bodyPr>
            <a:normAutofit/>
          </a:bodyPr>
          <a:lstStyle/>
          <a:p>
            <a:pPr marL="0" indent="0">
              <a:buNone/>
            </a:pPr>
            <a:r>
              <a:rPr lang="en-US" sz="2000"/>
              <a:t>The Shape of our distribution of Percentiles shows that the more points you score per game, the higher the percentile you land in. About 80% of players score below around 16 points per game and scoring about 20 per game puts you in the 90% percentile.</a:t>
            </a:r>
          </a:p>
        </p:txBody>
      </p:sp>
      <p:grpSp>
        <p:nvGrpSpPr>
          <p:cNvPr id="7173" name="Group 72">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74" name="Isosceles Triangle 7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4" name="Rectangle 7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170" name="Picture 2">
            <a:extLst>
              <a:ext uri="{FF2B5EF4-FFF2-40B4-BE49-F238E27FC236}">
                <a16:creationId xmlns:a16="http://schemas.microsoft.com/office/drawing/2014/main" id="{776919D4-D0D8-4CEF-9675-5D3138F1F5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95320" y="1842301"/>
            <a:ext cx="6253212" cy="4243251"/>
          </a:xfrm>
          <a:prstGeom prst="rect">
            <a:avLst/>
          </a:prstGeom>
          <a:noFill/>
          <a:extLst>
            <a:ext uri="{909E8E84-426E-40DD-AFC4-6F175D3DCCD1}">
              <a14:hiddenFill xmlns:a14="http://schemas.microsoft.com/office/drawing/2010/main">
                <a:solidFill>
                  <a:srgbClr val="FFFFFF"/>
                </a:solidFill>
              </a14:hiddenFill>
            </a:ext>
          </a:extLst>
        </p:spPr>
      </p:pic>
      <p:grpSp>
        <p:nvGrpSpPr>
          <p:cNvPr id="7175" name="Group 76">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78" name="Rectangle 77">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6" name="Isosceles Triangle 78">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73123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Rectangle 76">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A7C247-8E5A-4C9B-A4D4-1918A225B280}"/>
              </a:ext>
            </a:extLst>
          </p:cNvPr>
          <p:cNvSpPr>
            <a:spLocks noGrp="1"/>
          </p:cNvSpPr>
          <p:nvPr>
            <p:ph type="title"/>
          </p:nvPr>
        </p:nvSpPr>
        <p:spPr>
          <a:xfrm>
            <a:off x="643467" y="321734"/>
            <a:ext cx="4970877" cy="1135737"/>
          </a:xfrm>
        </p:spPr>
        <p:txBody>
          <a:bodyPr>
            <a:normAutofit/>
          </a:bodyPr>
          <a:lstStyle/>
          <a:p>
            <a:r>
              <a:rPr lang="en-US" sz="2500"/>
              <a:t>Analytical Distribution: Complementary Cumulative Distribution Function</a:t>
            </a:r>
          </a:p>
        </p:txBody>
      </p:sp>
      <p:sp>
        <p:nvSpPr>
          <p:cNvPr id="3" name="Content Placeholder 2">
            <a:extLst>
              <a:ext uri="{FF2B5EF4-FFF2-40B4-BE49-F238E27FC236}">
                <a16:creationId xmlns:a16="http://schemas.microsoft.com/office/drawing/2014/main" id="{4CC95091-C066-4184-B7C0-C20DD64E8FB2}"/>
              </a:ext>
            </a:extLst>
          </p:cNvPr>
          <p:cNvSpPr>
            <a:spLocks noGrp="1"/>
          </p:cNvSpPr>
          <p:nvPr>
            <p:ph idx="1"/>
          </p:nvPr>
        </p:nvSpPr>
        <p:spPr>
          <a:xfrm>
            <a:off x="643468" y="1782981"/>
            <a:ext cx="4970877" cy="4393982"/>
          </a:xfrm>
        </p:spPr>
        <p:txBody>
          <a:bodyPr>
            <a:normAutofit/>
          </a:bodyPr>
          <a:lstStyle/>
          <a:p>
            <a:pPr marL="0" indent="0">
              <a:buNone/>
            </a:pPr>
            <a:r>
              <a:rPr lang="en-US" sz="2000" dirty="0"/>
              <a:t>So the CCDF values are equal to 1-CDF values.  This shows us the peak values of our distribution of Points per Game. At any point in this graph it shows the percentage it is at or above that value. The CCDF curve moves towards the right so that Points per Game ratio increases which means that it shows the percentage of players which reach a certain threshold for Points per Game. </a:t>
            </a:r>
          </a:p>
        </p:txBody>
      </p:sp>
      <p:sp>
        <p:nvSpPr>
          <p:cNvPr id="79" name="Isosceles Triangle 78">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a:extLst>
              <a:ext uri="{FF2B5EF4-FFF2-40B4-BE49-F238E27FC236}">
                <a16:creationId xmlns:a16="http://schemas.microsoft.com/office/drawing/2014/main" id="{9CC72FD4-E014-434F-BF21-A850EAA5B22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57813" y="1669902"/>
            <a:ext cx="5290720" cy="3518194"/>
          </a:xfrm>
          <a:prstGeom prst="rect">
            <a:avLst/>
          </a:prstGeom>
          <a:noFill/>
          <a:extLst>
            <a:ext uri="{909E8E84-426E-40DD-AFC4-6F175D3DCCD1}">
              <a14:hiddenFill xmlns:a14="http://schemas.microsoft.com/office/drawing/2010/main">
                <a:solidFill>
                  <a:srgbClr val="FFFFFF"/>
                </a:solidFill>
              </a14:hiddenFill>
            </a:ext>
          </a:extLst>
        </p:spPr>
      </p:pic>
      <p:grpSp>
        <p:nvGrpSpPr>
          <p:cNvPr id="83" name="Group 82">
            <a:extLst>
              <a:ext uri="{FF2B5EF4-FFF2-40B4-BE49-F238E27FC236}">
                <a16:creationId xmlns:a16="http://schemas.microsoft.com/office/drawing/2014/main" id="{15CBE6EC-46EF-45D9-8E16-DCDC5917CA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84" name="Isosceles Triangle 83">
              <a:extLst>
                <a:ext uri="{FF2B5EF4-FFF2-40B4-BE49-F238E27FC236}">
                  <a16:creationId xmlns:a16="http://schemas.microsoft.com/office/drawing/2014/main" id="{DEEDCD65-9740-4F34-BDF1-9C068E053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4B3DA7FD-5CC0-46D1-9DFB-5BAF6BE24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99653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343325-56F5-4817-801F-75FE3690FF97}"/>
              </a:ext>
            </a:extLst>
          </p:cNvPr>
          <p:cNvSpPr>
            <a:spLocks noGrp="1"/>
          </p:cNvSpPr>
          <p:nvPr>
            <p:ph type="title"/>
          </p:nvPr>
        </p:nvSpPr>
        <p:spPr>
          <a:xfrm>
            <a:off x="643467" y="321734"/>
            <a:ext cx="10905066" cy="1135737"/>
          </a:xfrm>
        </p:spPr>
        <p:txBody>
          <a:bodyPr>
            <a:normAutofit/>
          </a:bodyPr>
          <a:lstStyle/>
          <a:p>
            <a:r>
              <a:rPr lang="en-US" sz="3600"/>
              <a:t>Comparing Variables</a:t>
            </a:r>
          </a:p>
        </p:txBody>
      </p:sp>
      <p:sp>
        <p:nvSpPr>
          <p:cNvPr id="9234" name="Content Placeholder 2">
            <a:extLst>
              <a:ext uri="{FF2B5EF4-FFF2-40B4-BE49-F238E27FC236}">
                <a16:creationId xmlns:a16="http://schemas.microsoft.com/office/drawing/2014/main" id="{C7975E5C-F02E-4705-8876-AA72BB4F5296}"/>
              </a:ext>
            </a:extLst>
          </p:cNvPr>
          <p:cNvSpPr>
            <a:spLocks noGrp="1"/>
          </p:cNvSpPr>
          <p:nvPr>
            <p:ph idx="1"/>
          </p:nvPr>
        </p:nvSpPr>
        <p:spPr>
          <a:xfrm>
            <a:off x="643469" y="1782981"/>
            <a:ext cx="4008384" cy="4393982"/>
          </a:xfrm>
        </p:spPr>
        <p:txBody>
          <a:bodyPr>
            <a:normAutofit/>
          </a:bodyPr>
          <a:lstStyle/>
          <a:p>
            <a:pPr marL="0" indent="0">
              <a:buNone/>
            </a:pPr>
            <a:r>
              <a:rPr lang="en-US" sz="2000"/>
              <a:t>Here is a Scatter Plot Matrix of our Data. </a:t>
            </a:r>
          </a:p>
          <a:p>
            <a:pPr marL="0" indent="0">
              <a:buNone/>
            </a:pPr>
            <a:r>
              <a:rPr lang="en-US" sz="2000"/>
              <a:t>Here we can see the correlations between certain statistics. One thing I noticed is the amount of points scored per game does not necessarily have a strong correlation with the Shooting Percentage, this indicates that there is a weak relationship between these 2 variables. This means I can cut these variables out of my regression to see which values have a higher effect.</a:t>
            </a:r>
          </a:p>
        </p:txBody>
      </p:sp>
      <p:grpSp>
        <p:nvGrpSpPr>
          <p:cNvPr id="137" name="Group 13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8" name="Isosceles Triangle 13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218" name="Picture 2">
            <a:extLst>
              <a:ext uri="{FF2B5EF4-FFF2-40B4-BE49-F238E27FC236}">
                <a16:creationId xmlns:a16="http://schemas.microsoft.com/office/drawing/2014/main" id="{95C1AF09-F083-4BC7-8E8C-B73AC9618AF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40980" y="1782981"/>
            <a:ext cx="4361892" cy="4361892"/>
          </a:xfrm>
          <a:prstGeom prst="rect">
            <a:avLst/>
          </a:prstGeom>
          <a:noFill/>
          <a:extLst>
            <a:ext uri="{909E8E84-426E-40DD-AFC4-6F175D3DCCD1}">
              <a14:hiddenFill xmlns:a14="http://schemas.microsoft.com/office/drawing/2010/main">
                <a:solidFill>
                  <a:srgbClr val="FFFFFF"/>
                </a:solidFill>
              </a14:hiddenFill>
            </a:ext>
          </a:extLst>
        </p:spPr>
      </p:pic>
      <p:grpSp>
        <p:nvGrpSpPr>
          <p:cNvPr id="141" name="Group 14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42" name="Rectangle 14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Isosceles Triangle 14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23034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D34C6A6-DF2B-433A-AC3B-6FA5D8F013BA}"/>
              </a:ext>
            </a:extLst>
          </p:cNvPr>
          <p:cNvSpPr>
            <a:spLocks noGrp="1"/>
          </p:cNvSpPr>
          <p:nvPr>
            <p:ph type="title"/>
          </p:nvPr>
        </p:nvSpPr>
        <p:spPr>
          <a:xfrm>
            <a:off x="643467" y="321734"/>
            <a:ext cx="10905066" cy="1135737"/>
          </a:xfrm>
        </p:spPr>
        <p:txBody>
          <a:bodyPr>
            <a:normAutofit/>
          </a:bodyPr>
          <a:lstStyle/>
          <a:p>
            <a:r>
              <a:rPr lang="en-US" sz="3600" dirty="0"/>
              <a:t>Comparing Variables: PPG vs MPG</a:t>
            </a:r>
          </a:p>
        </p:txBody>
      </p:sp>
      <p:sp>
        <p:nvSpPr>
          <p:cNvPr id="3" name="Content Placeholder 2">
            <a:extLst>
              <a:ext uri="{FF2B5EF4-FFF2-40B4-BE49-F238E27FC236}">
                <a16:creationId xmlns:a16="http://schemas.microsoft.com/office/drawing/2014/main" id="{BE57699F-E651-4EDB-B547-2C2BFE242078}"/>
              </a:ext>
            </a:extLst>
          </p:cNvPr>
          <p:cNvSpPr>
            <a:spLocks noGrp="1"/>
          </p:cNvSpPr>
          <p:nvPr>
            <p:ph idx="1"/>
          </p:nvPr>
        </p:nvSpPr>
        <p:spPr>
          <a:xfrm>
            <a:off x="643469" y="1782981"/>
            <a:ext cx="4008384" cy="4393982"/>
          </a:xfrm>
        </p:spPr>
        <p:txBody>
          <a:bodyPr>
            <a:normAutofit/>
          </a:bodyPr>
          <a:lstStyle/>
          <a:p>
            <a:pPr marL="0" indent="0">
              <a:buNone/>
            </a:pPr>
            <a:r>
              <a:rPr lang="en-US" sz="2000" dirty="0"/>
              <a:t>Points Per game are Highly Correlated with Minutes Played Per Game with a 87%Pearson’s R Correlation  , the relationship seems exponential.  The more minutes a player plays, the higher their chance of gaining more points in a game is. </a:t>
            </a:r>
          </a:p>
        </p:txBody>
      </p:sp>
      <p:grpSp>
        <p:nvGrpSpPr>
          <p:cNvPr id="137" name="Group 13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8" name="Isosceles Triangle 13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42" name="Picture 2">
            <a:extLst>
              <a:ext uri="{FF2B5EF4-FFF2-40B4-BE49-F238E27FC236}">
                <a16:creationId xmlns:a16="http://schemas.microsoft.com/office/drawing/2014/main" id="{BB686729-FB14-4B7A-97E8-1CCDB52F3E5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95320" y="1847207"/>
            <a:ext cx="6253212" cy="4233440"/>
          </a:xfrm>
          <a:prstGeom prst="rect">
            <a:avLst/>
          </a:prstGeom>
          <a:noFill/>
          <a:extLst>
            <a:ext uri="{909E8E84-426E-40DD-AFC4-6F175D3DCCD1}">
              <a14:hiddenFill xmlns:a14="http://schemas.microsoft.com/office/drawing/2010/main">
                <a:solidFill>
                  <a:srgbClr val="FFFFFF"/>
                </a:solidFill>
              </a14:hiddenFill>
            </a:ext>
          </a:extLst>
        </p:spPr>
      </p:pic>
      <p:grpSp>
        <p:nvGrpSpPr>
          <p:cNvPr id="141" name="Group 14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42" name="Rectangle 14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Isosceles Triangle 14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57864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8" name="Rectangle 7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12E5D4-AD16-4B79-9C77-E6DAC3172473}"/>
              </a:ext>
            </a:extLst>
          </p:cNvPr>
          <p:cNvSpPr>
            <a:spLocks noGrp="1"/>
          </p:cNvSpPr>
          <p:nvPr>
            <p:ph type="title"/>
          </p:nvPr>
        </p:nvSpPr>
        <p:spPr>
          <a:xfrm>
            <a:off x="643467" y="321734"/>
            <a:ext cx="4970877" cy="1135737"/>
          </a:xfrm>
        </p:spPr>
        <p:txBody>
          <a:bodyPr>
            <a:normAutofit/>
          </a:bodyPr>
          <a:lstStyle/>
          <a:p>
            <a:r>
              <a:rPr lang="en-US" sz="3600" dirty="0"/>
              <a:t>Comparing Variables: </a:t>
            </a:r>
            <a:r>
              <a:rPr lang="en-US" sz="3600" dirty="0" err="1"/>
              <a:t>eFG</a:t>
            </a:r>
            <a:r>
              <a:rPr lang="en-US" sz="3600" dirty="0"/>
              <a:t>% and FGA</a:t>
            </a:r>
          </a:p>
        </p:txBody>
      </p:sp>
      <p:sp>
        <p:nvSpPr>
          <p:cNvPr id="3" name="Content Placeholder 2">
            <a:extLst>
              <a:ext uri="{FF2B5EF4-FFF2-40B4-BE49-F238E27FC236}">
                <a16:creationId xmlns:a16="http://schemas.microsoft.com/office/drawing/2014/main" id="{6850097C-C8D1-4963-B423-64CB7934AB24}"/>
              </a:ext>
            </a:extLst>
          </p:cNvPr>
          <p:cNvSpPr>
            <a:spLocks noGrp="1"/>
          </p:cNvSpPr>
          <p:nvPr>
            <p:ph idx="1"/>
          </p:nvPr>
        </p:nvSpPr>
        <p:spPr>
          <a:xfrm>
            <a:off x="643468" y="1782981"/>
            <a:ext cx="4970877" cy="4393982"/>
          </a:xfrm>
        </p:spPr>
        <p:txBody>
          <a:bodyPr>
            <a:normAutofit/>
          </a:bodyPr>
          <a:lstStyle/>
          <a:p>
            <a:pPr marL="0" indent="0">
              <a:buNone/>
            </a:pPr>
            <a:r>
              <a:rPr lang="en-US" sz="2000" dirty="0"/>
              <a:t>This scatter plot gives us a </a:t>
            </a:r>
            <a:r>
              <a:rPr lang="en-US" sz="2000" dirty="0" err="1"/>
              <a:t>PearsonR</a:t>
            </a:r>
            <a:r>
              <a:rPr lang="en-US" sz="2000" dirty="0"/>
              <a:t> Correlation Coefficient of 24.8% , this means that Efficient Field Goal Percentages are only about 25% correlated with Field Goal Attempts. The relationship looks similar to a y=√x graph. This is a weak correlation. </a:t>
            </a:r>
          </a:p>
        </p:txBody>
      </p:sp>
      <p:sp>
        <p:nvSpPr>
          <p:cNvPr id="11269" name="Isosceles Triangle 7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0" name="Rectangle 7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a:extLst>
              <a:ext uri="{FF2B5EF4-FFF2-40B4-BE49-F238E27FC236}">
                <a16:creationId xmlns:a16="http://schemas.microsoft.com/office/drawing/2014/main" id="{5F38F46B-D556-4D08-A2DE-934E6A4FD3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57813" y="1629343"/>
            <a:ext cx="5290720" cy="3599313"/>
          </a:xfrm>
          <a:prstGeom prst="rect">
            <a:avLst/>
          </a:prstGeom>
          <a:noFill/>
          <a:extLst>
            <a:ext uri="{909E8E84-426E-40DD-AFC4-6F175D3DCCD1}">
              <a14:hiddenFill xmlns:a14="http://schemas.microsoft.com/office/drawing/2010/main">
                <a:solidFill>
                  <a:srgbClr val="FFFFFF"/>
                </a:solidFill>
              </a14:hiddenFill>
            </a:ext>
          </a:extLst>
        </p:spPr>
      </p:pic>
      <p:grpSp>
        <p:nvGrpSpPr>
          <p:cNvPr id="11271" name="Group 76">
            <a:extLst>
              <a:ext uri="{FF2B5EF4-FFF2-40B4-BE49-F238E27FC236}">
                <a16:creationId xmlns:a16="http://schemas.microsoft.com/office/drawing/2014/main" id="{15CBE6EC-46EF-45D9-8E16-DCDC5917CA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11272" name="Isosceles Triangle 77">
              <a:extLst>
                <a:ext uri="{FF2B5EF4-FFF2-40B4-BE49-F238E27FC236}">
                  <a16:creationId xmlns:a16="http://schemas.microsoft.com/office/drawing/2014/main" id="{DEEDCD65-9740-4F34-BDF1-9C068E053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73" name="Rectangle 78">
              <a:extLst>
                <a:ext uri="{FF2B5EF4-FFF2-40B4-BE49-F238E27FC236}">
                  <a16:creationId xmlns:a16="http://schemas.microsoft.com/office/drawing/2014/main" id="{4B3DA7FD-5CC0-46D1-9DFB-5BAF6BE24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93834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8" name="Rectangle 7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12E5D4-AD16-4B79-9C77-E6DAC3172473}"/>
              </a:ext>
            </a:extLst>
          </p:cNvPr>
          <p:cNvSpPr>
            <a:spLocks noGrp="1"/>
          </p:cNvSpPr>
          <p:nvPr>
            <p:ph type="title"/>
          </p:nvPr>
        </p:nvSpPr>
        <p:spPr>
          <a:xfrm>
            <a:off x="643467" y="321734"/>
            <a:ext cx="4970877" cy="1135737"/>
          </a:xfrm>
        </p:spPr>
        <p:txBody>
          <a:bodyPr>
            <a:normAutofit fontScale="90000"/>
          </a:bodyPr>
          <a:lstStyle/>
          <a:p>
            <a:r>
              <a:rPr lang="en-US" sz="3600" dirty="0"/>
              <a:t>Spearman’s Rank Hypothesis Test: PPG vs MPG</a:t>
            </a:r>
          </a:p>
        </p:txBody>
      </p:sp>
      <p:sp>
        <p:nvSpPr>
          <p:cNvPr id="3" name="Content Placeholder 2">
            <a:extLst>
              <a:ext uri="{FF2B5EF4-FFF2-40B4-BE49-F238E27FC236}">
                <a16:creationId xmlns:a16="http://schemas.microsoft.com/office/drawing/2014/main" id="{6850097C-C8D1-4963-B423-64CB7934AB24}"/>
              </a:ext>
            </a:extLst>
          </p:cNvPr>
          <p:cNvSpPr>
            <a:spLocks noGrp="1"/>
          </p:cNvSpPr>
          <p:nvPr>
            <p:ph idx="1"/>
          </p:nvPr>
        </p:nvSpPr>
        <p:spPr>
          <a:xfrm>
            <a:off x="870372" y="1524024"/>
            <a:ext cx="10451253" cy="1349897"/>
          </a:xfrm>
        </p:spPr>
        <p:txBody>
          <a:bodyPr>
            <a:normAutofit/>
          </a:bodyPr>
          <a:lstStyle/>
          <a:p>
            <a:pPr marL="0" indent="0">
              <a:buNone/>
            </a:pPr>
            <a:r>
              <a:rPr lang="en-US" sz="2000" dirty="0"/>
              <a:t>Let us Conduct a Spearman's Rank Hypothesis test on the Relationship between Points per Game and Minutes Played per Game. For our null hypothesis we will say that our two samples are independent.  our P value for the samples is &lt;0.05 which means that there is probably dependency between the samples. </a:t>
            </a:r>
          </a:p>
        </p:txBody>
      </p:sp>
      <p:sp>
        <p:nvSpPr>
          <p:cNvPr id="11269" name="Isosceles Triangle 7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0" name="Rectangle 7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271" name="Group 76">
            <a:extLst>
              <a:ext uri="{FF2B5EF4-FFF2-40B4-BE49-F238E27FC236}">
                <a16:creationId xmlns:a16="http://schemas.microsoft.com/office/drawing/2014/main" id="{15CBE6EC-46EF-45D9-8E16-DCDC5917CA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11272" name="Isosceles Triangle 77">
              <a:extLst>
                <a:ext uri="{FF2B5EF4-FFF2-40B4-BE49-F238E27FC236}">
                  <a16:creationId xmlns:a16="http://schemas.microsoft.com/office/drawing/2014/main" id="{DEEDCD65-9740-4F34-BDF1-9C068E053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73" name="Rectangle 78">
              <a:extLst>
                <a:ext uri="{FF2B5EF4-FFF2-40B4-BE49-F238E27FC236}">
                  <a16:creationId xmlns:a16="http://schemas.microsoft.com/office/drawing/2014/main" id="{4B3DA7FD-5CC0-46D1-9DFB-5BAF6BE24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BAC20CBA-FBC7-4598-83EF-971043F99B79}"/>
              </a:ext>
            </a:extLst>
          </p:cNvPr>
          <p:cNvPicPr>
            <a:picLocks noChangeAspect="1"/>
          </p:cNvPicPr>
          <p:nvPr/>
        </p:nvPicPr>
        <p:blipFill>
          <a:blip r:embed="rId2"/>
          <a:stretch>
            <a:fillRect/>
          </a:stretch>
        </p:blipFill>
        <p:spPr>
          <a:xfrm>
            <a:off x="703232" y="3359612"/>
            <a:ext cx="10785535" cy="1187577"/>
          </a:xfrm>
          <a:prstGeom prst="rect">
            <a:avLst/>
          </a:prstGeom>
        </p:spPr>
      </p:pic>
    </p:spTree>
    <p:extLst>
      <p:ext uri="{BB962C8B-B14F-4D97-AF65-F5344CB8AC3E}">
        <p14:creationId xmlns:p14="http://schemas.microsoft.com/office/powerpoint/2010/main" val="717083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BB7C51-829B-4243-9A2F-5EA8A29D7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ECE0A17-721D-47DA-B462-427AB9C656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 name="Freeform 5">
              <a:extLst>
                <a:ext uri="{FF2B5EF4-FFF2-40B4-BE49-F238E27FC236}">
                  <a16:creationId xmlns:a16="http://schemas.microsoft.com/office/drawing/2014/main" id="{07B1C03F-70ED-4BE3-AFBC-CD51D4411F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AE84050F-F367-4A35-93F5-1397E3C667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5D88F3A8-CDAB-4D08-8D47-096D7AA3467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2BEFDF5-BD04-4DD8-9671-13817A4D8A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ACA74E73-7B97-43C1-BC3B-89DED3F8AF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C11D94E0-EFF2-4934-97FD-3E424A25F2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70D5352A-232D-40A3-8A72-4CB6B8277E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2">
              <a:extLst>
                <a:ext uri="{FF2B5EF4-FFF2-40B4-BE49-F238E27FC236}">
                  <a16:creationId xmlns:a16="http://schemas.microsoft.com/office/drawing/2014/main" id="{9E3B6EC6-9A43-43B8-BE95-D12BD1AF3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3">
              <a:extLst>
                <a:ext uri="{FF2B5EF4-FFF2-40B4-BE49-F238E27FC236}">
                  <a16:creationId xmlns:a16="http://schemas.microsoft.com/office/drawing/2014/main" id="{7B71BA3B-3BFF-4756-B642-C00DA5F4AD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4">
              <a:extLst>
                <a:ext uri="{FF2B5EF4-FFF2-40B4-BE49-F238E27FC236}">
                  <a16:creationId xmlns:a16="http://schemas.microsoft.com/office/drawing/2014/main" id="{6070AC7F-F9D6-4E73-A95C-9DA3846FD5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5">
              <a:extLst>
                <a:ext uri="{FF2B5EF4-FFF2-40B4-BE49-F238E27FC236}">
                  <a16:creationId xmlns:a16="http://schemas.microsoft.com/office/drawing/2014/main" id="{9DDF2314-3F38-4664-B31D-AEB55882BB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A59AAAEA-0A38-490A-9CBF-F8C79B0A6B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7">
              <a:extLst>
                <a:ext uri="{FF2B5EF4-FFF2-40B4-BE49-F238E27FC236}">
                  <a16:creationId xmlns:a16="http://schemas.microsoft.com/office/drawing/2014/main" id="{9AEF5CD7-59EB-48AC-BB37-3EB70C0529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8">
              <a:extLst>
                <a:ext uri="{FF2B5EF4-FFF2-40B4-BE49-F238E27FC236}">
                  <a16:creationId xmlns:a16="http://schemas.microsoft.com/office/drawing/2014/main" id="{24602B28-B14A-4724-9665-D2CDC19C98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9">
              <a:extLst>
                <a:ext uri="{FF2B5EF4-FFF2-40B4-BE49-F238E27FC236}">
                  <a16:creationId xmlns:a16="http://schemas.microsoft.com/office/drawing/2014/main" id="{541E4D23-8098-43A1-9826-246EBF1BBA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0">
              <a:extLst>
                <a:ext uri="{FF2B5EF4-FFF2-40B4-BE49-F238E27FC236}">
                  <a16:creationId xmlns:a16="http://schemas.microsoft.com/office/drawing/2014/main" id="{D164F3ED-DB01-4823-852E-A99B4C2641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1">
              <a:extLst>
                <a:ext uri="{FF2B5EF4-FFF2-40B4-BE49-F238E27FC236}">
                  <a16:creationId xmlns:a16="http://schemas.microsoft.com/office/drawing/2014/main" id="{05C52390-6376-4DB5-B289-6B1C527355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2">
              <a:extLst>
                <a:ext uri="{FF2B5EF4-FFF2-40B4-BE49-F238E27FC236}">
                  <a16:creationId xmlns:a16="http://schemas.microsoft.com/office/drawing/2014/main" id="{40ABB3F2-1D59-4F3E-921C-DD7B8D55BA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3">
              <a:extLst>
                <a:ext uri="{FF2B5EF4-FFF2-40B4-BE49-F238E27FC236}">
                  <a16:creationId xmlns:a16="http://schemas.microsoft.com/office/drawing/2014/main" id="{88E0EE84-E054-424D-A93B-D6D23AFFFF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4">
              <a:extLst>
                <a:ext uri="{FF2B5EF4-FFF2-40B4-BE49-F238E27FC236}">
                  <a16:creationId xmlns:a16="http://schemas.microsoft.com/office/drawing/2014/main" id="{F084CB4C-E741-4E13-AE65-BAB699C6C6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5">
              <a:extLst>
                <a:ext uri="{FF2B5EF4-FFF2-40B4-BE49-F238E27FC236}">
                  <a16:creationId xmlns:a16="http://schemas.microsoft.com/office/drawing/2014/main" id="{AA5D2838-70AA-418B-87DF-83A903E794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35" name="Group 34">
            <a:extLst>
              <a:ext uri="{FF2B5EF4-FFF2-40B4-BE49-F238E27FC236}">
                <a16:creationId xmlns:a16="http://schemas.microsoft.com/office/drawing/2014/main" id="{908DA454-A7F1-451C-B515-4957882495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6" name="Rectangle 35">
              <a:extLst>
                <a:ext uri="{FF2B5EF4-FFF2-40B4-BE49-F238E27FC236}">
                  <a16:creationId xmlns:a16="http://schemas.microsoft.com/office/drawing/2014/main" id="{696FE467-34A9-4910-A7C5-6B92891F24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22">
              <a:extLst>
                <a:ext uri="{FF2B5EF4-FFF2-40B4-BE49-F238E27FC236}">
                  <a16:creationId xmlns:a16="http://schemas.microsoft.com/office/drawing/2014/main" id="{01A2AF91-EF78-4611-8AF7-C1B45269F7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C7115C0-C409-41DC-96F1-B784C5E37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EE728F1-A925-4FEE-9D7E-E16652613E6E}"/>
              </a:ext>
            </a:extLst>
          </p:cNvPr>
          <p:cNvSpPr>
            <a:spLocks noGrp="1"/>
          </p:cNvSpPr>
          <p:nvPr>
            <p:ph type="title"/>
          </p:nvPr>
        </p:nvSpPr>
        <p:spPr>
          <a:xfrm>
            <a:off x="888631" y="2358391"/>
            <a:ext cx="3498979" cy="2453676"/>
          </a:xfrm>
        </p:spPr>
        <p:txBody>
          <a:bodyPr>
            <a:normAutofit/>
          </a:bodyPr>
          <a:lstStyle/>
          <a:p>
            <a:pPr algn="ctr"/>
            <a:r>
              <a:rPr lang="en-US" sz="3600">
                <a:solidFill>
                  <a:srgbClr val="FFFFFE"/>
                </a:solidFill>
              </a:rPr>
              <a:t>Regression: Analysis between PPG and Multiple Variables. </a:t>
            </a:r>
          </a:p>
        </p:txBody>
      </p:sp>
      <p:sp>
        <p:nvSpPr>
          <p:cNvPr id="3" name="Content Placeholder 2">
            <a:extLst>
              <a:ext uri="{FF2B5EF4-FFF2-40B4-BE49-F238E27FC236}">
                <a16:creationId xmlns:a16="http://schemas.microsoft.com/office/drawing/2014/main" id="{8EF1CD8F-F3C4-4C93-8ECC-04389B8608A3}"/>
              </a:ext>
            </a:extLst>
          </p:cNvPr>
          <p:cNvSpPr>
            <a:spLocks noGrp="1"/>
          </p:cNvSpPr>
          <p:nvPr>
            <p:ph idx="1"/>
          </p:nvPr>
        </p:nvSpPr>
        <p:spPr>
          <a:xfrm>
            <a:off x="5118447" y="797594"/>
            <a:ext cx="6281873" cy="2393369"/>
          </a:xfrm>
        </p:spPr>
        <p:txBody>
          <a:bodyPr anchor="ctr">
            <a:normAutofit/>
          </a:bodyPr>
          <a:lstStyle/>
          <a:p>
            <a:pPr marL="0" indent="0">
              <a:buNone/>
            </a:pPr>
            <a:r>
              <a:rPr lang="en-US" sz="1800" dirty="0"/>
              <a:t>This step will statistically inform us on the relationship between PPG and MPG, FGA, and FTA. The test will be conducted via the code pictured below. </a:t>
            </a:r>
          </a:p>
        </p:txBody>
      </p:sp>
      <p:sp>
        <p:nvSpPr>
          <p:cNvPr id="40" name="Rectangle 39">
            <a:extLst>
              <a:ext uri="{FF2B5EF4-FFF2-40B4-BE49-F238E27FC236}">
                <a16:creationId xmlns:a16="http://schemas.microsoft.com/office/drawing/2014/main" id="{DE4A42E0-EF5F-4494-B39B-3DB7D04759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265" y="3667039"/>
            <a:ext cx="6269016" cy="2376200"/>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B535F66-9ABF-4073-9665-5E009534B03B}"/>
              </a:ext>
            </a:extLst>
          </p:cNvPr>
          <p:cNvPicPr>
            <a:picLocks noChangeAspect="1"/>
          </p:cNvPicPr>
          <p:nvPr/>
        </p:nvPicPr>
        <p:blipFill>
          <a:blip r:embed="rId2"/>
          <a:stretch>
            <a:fillRect/>
          </a:stretch>
        </p:blipFill>
        <p:spPr>
          <a:xfrm>
            <a:off x="5269675" y="4142734"/>
            <a:ext cx="5956764" cy="1451961"/>
          </a:xfrm>
          <a:prstGeom prst="rect">
            <a:avLst/>
          </a:prstGeom>
          <a:ln w="9525">
            <a:noFill/>
          </a:ln>
        </p:spPr>
      </p:pic>
    </p:spTree>
    <p:extLst>
      <p:ext uri="{BB962C8B-B14F-4D97-AF65-F5344CB8AC3E}">
        <p14:creationId xmlns:p14="http://schemas.microsoft.com/office/powerpoint/2010/main" val="1006269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BFE304-8BB7-4D0C-B1FE-0AFCD1D5867B}"/>
              </a:ext>
            </a:extLst>
          </p:cNvPr>
          <p:cNvSpPr>
            <a:spLocks noGrp="1"/>
          </p:cNvSpPr>
          <p:nvPr>
            <p:ph type="title"/>
          </p:nvPr>
        </p:nvSpPr>
        <p:spPr>
          <a:xfrm>
            <a:off x="643467" y="321734"/>
            <a:ext cx="10905066" cy="1135737"/>
          </a:xfrm>
        </p:spPr>
        <p:txBody>
          <a:bodyPr>
            <a:normAutofit/>
          </a:bodyPr>
          <a:lstStyle/>
          <a:p>
            <a:r>
              <a:rPr lang="en-US" sz="3600"/>
              <a:t>Regression Analysis: Model Summary</a:t>
            </a:r>
          </a:p>
        </p:txBody>
      </p:sp>
      <p:sp>
        <p:nvSpPr>
          <p:cNvPr id="3" name="Content Placeholder 2">
            <a:extLst>
              <a:ext uri="{FF2B5EF4-FFF2-40B4-BE49-F238E27FC236}">
                <a16:creationId xmlns:a16="http://schemas.microsoft.com/office/drawing/2014/main" id="{6E0A8E9F-CCE2-427F-93A9-A671019ACC5E}"/>
              </a:ext>
            </a:extLst>
          </p:cNvPr>
          <p:cNvSpPr>
            <a:spLocks noGrp="1"/>
          </p:cNvSpPr>
          <p:nvPr>
            <p:ph idx="1"/>
          </p:nvPr>
        </p:nvSpPr>
        <p:spPr>
          <a:xfrm>
            <a:off x="643469" y="1782981"/>
            <a:ext cx="4008384" cy="4393982"/>
          </a:xfrm>
        </p:spPr>
        <p:txBody>
          <a:bodyPr>
            <a:normAutofit fontScale="92500" lnSpcReduction="10000"/>
          </a:bodyPr>
          <a:lstStyle/>
          <a:p>
            <a:pPr marL="0" indent="0">
              <a:buNone/>
            </a:pPr>
            <a:r>
              <a:rPr lang="en-US" sz="1900" dirty="0"/>
              <a:t>R2 value of 98 percent means that our model fits the data very well. F statistic of 6921 and F-Statistic probability of 0.00 tells us that we can reject the null hypothesis that a Intercept Only Model will be a better fit then our regression and that there is a relationship between MP, FGA, and FTA. Now let's look at what features are significant. All of our predictor variables have a P value of &lt;0.05, which means that all these variables are significant in determining how many points a player scores per game. The weight values of these features are nonzero. FGA and FTA have a higher t-score than MP which tells us that these variables have a higher influence on PPG.</a:t>
            </a:r>
          </a:p>
          <a:p>
            <a:pPr marL="0" indent="0">
              <a:buNone/>
            </a:pPr>
            <a:endParaRPr lang="en-US" sz="1900" dirty="0"/>
          </a:p>
        </p:txBody>
      </p:sp>
      <p:grpSp>
        <p:nvGrpSpPr>
          <p:cNvPr id="25" name="Group 24">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6" name="Isosceles Triangle 2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BB9ABC45-B5A6-467C-AC16-11E491B35948}"/>
              </a:ext>
            </a:extLst>
          </p:cNvPr>
          <p:cNvPicPr>
            <a:picLocks noChangeAspect="1"/>
          </p:cNvPicPr>
          <p:nvPr/>
        </p:nvPicPr>
        <p:blipFill>
          <a:blip r:embed="rId2"/>
          <a:stretch>
            <a:fillRect/>
          </a:stretch>
        </p:blipFill>
        <p:spPr>
          <a:xfrm>
            <a:off x="6763603" y="1782981"/>
            <a:ext cx="3316645" cy="4361892"/>
          </a:xfrm>
          <a:prstGeom prst="rect">
            <a:avLst/>
          </a:prstGeom>
        </p:spPr>
      </p:pic>
      <p:grpSp>
        <p:nvGrpSpPr>
          <p:cNvPr id="29" name="Group 28">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0" name="Rectangle 29">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486809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1117</Words>
  <Application>Microsoft Office PowerPoint</Application>
  <PresentationFormat>Widescreen</PresentationFormat>
  <Paragraphs>61</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NBA: Points Per Game Analysis</vt:lpstr>
      <vt:lpstr>Research Question: What variable plays the largest part in the average points per game a player averages in the NBA?  </vt:lpstr>
      <vt:lpstr>Gathering the Data </vt:lpstr>
      <vt:lpstr>The Data:</vt:lpstr>
      <vt:lpstr>Field Goal Percentage </vt:lpstr>
      <vt:lpstr>Field Goal Attempts</vt:lpstr>
      <vt:lpstr>Minutes Played</vt:lpstr>
      <vt:lpstr>Points Per Game</vt:lpstr>
      <vt:lpstr>Efficient Field Goal Percentage</vt:lpstr>
      <vt:lpstr>Probability Mass Function</vt:lpstr>
      <vt:lpstr>Cumulative Distribution Function</vt:lpstr>
      <vt:lpstr>Analytical Distribution: Complementary Cumulative Distribution Function</vt:lpstr>
      <vt:lpstr>Comparing Variables</vt:lpstr>
      <vt:lpstr>Comparing Variables: PPG vs MPG</vt:lpstr>
      <vt:lpstr>Comparing Variables: eFG% and FGA</vt:lpstr>
      <vt:lpstr>Spearman’s Rank Hypothesis Test: PPG vs MPG</vt:lpstr>
      <vt:lpstr>Regression: Analysis between PPG and Multiple Variables. </vt:lpstr>
      <vt:lpstr>Regression Analysis: Model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NBA: Points Per Game Analysis</dc:title>
  <dc:creator>Patrik</dc:creator>
  <cp:lastModifiedBy>Patrik</cp:lastModifiedBy>
  <cp:revision>6</cp:revision>
  <dcterms:created xsi:type="dcterms:W3CDTF">2021-03-06T18:28:11Z</dcterms:created>
  <dcterms:modified xsi:type="dcterms:W3CDTF">2021-03-06T21:29:14Z</dcterms:modified>
</cp:coreProperties>
</file>